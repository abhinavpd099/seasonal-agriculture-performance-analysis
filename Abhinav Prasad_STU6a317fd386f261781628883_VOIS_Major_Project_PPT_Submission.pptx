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0" r:id="rId12"/>
    <p:sldId id="271" r:id="rId13"/>
    <p:sldId id="272" r:id="rId14"/>
    <p:sldId id="273" r:id="rId15"/>
    <p:sldId id="274" r:id="rId16"/>
    <p:sldId id="275" r:id="rId17"/>
    <p:sldId id="276" r:id="rId18"/>
    <p:sldId id="277" r:id="rId19"/>
    <p:sldId id="278" r:id="rId20"/>
    <p:sldId id="279" r:id="rId21"/>
    <p:sldId id="266" r:id="rId22"/>
    <p:sldId id="267" r:id="rId23"/>
    <p:sldId id="268" r:id="rId24"/>
    <p:sldId id="269" r:id="rId25"/>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850" y="7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5332" y="385444"/>
            <a:ext cx="2444115" cy="758190"/>
          </a:xfrm>
          <a:prstGeom prst="rect">
            <a:avLst/>
          </a:prstGeom>
        </p:spPr>
        <p:txBody>
          <a:bodyPr wrap="square" lIns="0" tIns="0" rIns="0" bIns="0">
            <a:spAutoFit/>
          </a:bodyPr>
          <a:lstStyle>
            <a:lvl1pPr>
              <a:defRPr sz="2900" b="1"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9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17" name="bg object 17"/>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18" name="bg object 18"/>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19" name="bg object 19"/>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0" name="bg object 20"/>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21" name="bg object 21"/>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22" name="bg object 22"/>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23" name="bg object 23"/>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4" name="bg object 24"/>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94906"/>
            <a:ext cx="6297930" cy="910590"/>
          </a:xfrm>
          <a:prstGeom prst="rect">
            <a:avLst/>
          </a:prstGeom>
        </p:spPr>
        <p:txBody>
          <a:bodyPr wrap="square" lIns="0" tIns="0" rIns="0" bIns="0">
            <a:spAutoFit/>
          </a:bodyPr>
          <a:lstStyle>
            <a:lvl1pPr>
              <a:defRPr sz="29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1126172" y="1834514"/>
            <a:ext cx="6210934" cy="3511550"/>
          </a:xfrm>
          <a:prstGeom prst="rect">
            <a:avLst/>
          </a:prstGeom>
        </p:spPr>
        <p:txBody>
          <a:bodyPr wrap="square" lIns="0" tIns="0" rIns="0" bIns="0">
            <a:spAutoFit/>
          </a:bodyPr>
          <a:lstStyle>
            <a:lvl1pPr>
              <a:defRPr sz="2000" b="0" i="0">
                <a:solidFill>
                  <a:srgbClr val="404040"/>
                </a:solidFill>
                <a:latin typeface="Trebuchet MS"/>
                <a:cs typeface="Trebuchet MS"/>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9/14/2026</a:t>
            </a:fld>
            <a:endParaRPr lang="en-US"/>
          </a:p>
        </p:txBody>
      </p:sp>
      <p:sp>
        <p:nvSpPr>
          <p:cNvPr id="6" name="Holder 6"/>
          <p:cNvSpPr>
            <a:spLocks noGrp="1"/>
          </p:cNvSpPr>
          <p:nvPr>
            <p:ph type="sldNum" sz="quarter" idx="7"/>
          </p:nvPr>
        </p:nvSpPr>
        <p:spPr>
          <a:xfrm>
            <a:off x="11280520" y="6473337"/>
            <a:ext cx="241300"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110489">
              <a:lnSpc>
                <a:spcPct val="100000"/>
              </a:lnSpc>
              <a:spcBef>
                <a:spcPts val="55"/>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1378818" y="6464617"/>
            <a:ext cx="100330" cy="196850"/>
          </a:xfrm>
          <a:prstGeom prst="rect">
            <a:avLst/>
          </a:prstGeom>
        </p:spPr>
        <p:txBody>
          <a:bodyPr vert="horz" wrap="square" lIns="0" tIns="15875" rIns="0" bIns="0" rtlCol="0">
            <a:spAutoFit/>
          </a:bodyPr>
          <a:lstStyle/>
          <a:p>
            <a:pPr marL="12700">
              <a:lnSpc>
                <a:spcPct val="100000"/>
              </a:lnSpc>
              <a:spcBef>
                <a:spcPts val="125"/>
              </a:spcBef>
            </a:pPr>
            <a:r>
              <a:rPr sz="1100" spc="-50" dirty="0">
                <a:solidFill>
                  <a:srgbClr val="2D936B"/>
                </a:solidFill>
                <a:latin typeface="Trebuchet MS"/>
                <a:cs typeface="Trebuchet MS"/>
              </a:rPr>
              <a:t>1</a:t>
            </a:r>
            <a:endParaRPr sz="1100">
              <a:latin typeface="Trebuchet MS"/>
              <a:cs typeface="Trebuchet MS"/>
            </a:endParaRPr>
          </a:p>
        </p:txBody>
      </p:sp>
      <p:grpSp>
        <p:nvGrpSpPr>
          <p:cNvPr id="4" name="object 4"/>
          <p:cNvGrpSpPr/>
          <p:nvPr/>
        </p:nvGrpSpPr>
        <p:grpSpPr>
          <a:xfrm>
            <a:off x="742950" y="1104900"/>
            <a:ext cx="1743075" cy="1333500"/>
            <a:chOff x="742950" y="1104900"/>
            <a:chExt cx="1743075" cy="1333500"/>
          </a:xfrm>
        </p:grpSpPr>
        <p:sp>
          <p:nvSpPr>
            <p:cNvPr id="5" name="object 5"/>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6" name="object 6"/>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7" name="object 7"/>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8" name="object 8"/>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9" name="object 9"/>
          <p:cNvSpPr txBox="1"/>
          <p:nvPr/>
        </p:nvSpPr>
        <p:spPr>
          <a:xfrm>
            <a:off x="740492" y="3804625"/>
            <a:ext cx="7162799" cy="1412310"/>
          </a:xfrm>
          <a:prstGeom prst="rect">
            <a:avLst/>
          </a:prstGeom>
        </p:spPr>
        <p:txBody>
          <a:bodyPr vert="horz" wrap="square" lIns="0" tIns="12065" rIns="0" bIns="0" rtlCol="0">
            <a:spAutoFit/>
          </a:bodyPr>
          <a:lstStyle/>
          <a:p>
            <a:pPr marL="222250" marR="923925" indent="133350">
              <a:lnSpc>
                <a:spcPct val="140800"/>
              </a:lnSpc>
              <a:spcBef>
                <a:spcPts val="95"/>
              </a:spcBef>
            </a:pPr>
            <a:r>
              <a:rPr sz="2000" dirty="0">
                <a:latin typeface="Trebuchet MS"/>
                <a:cs typeface="Trebuchet MS"/>
              </a:rPr>
              <a:t>[Student</a:t>
            </a:r>
            <a:r>
              <a:rPr sz="2000" spc="-75" dirty="0">
                <a:latin typeface="Trebuchet MS"/>
                <a:cs typeface="Trebuchet MS"/>
              </a:rPr>
              <a:t> </a:t>
            </a:r>
            <a:r>
              <a:rPr sz="2000" spc="-20" dirty="0">
                <a:latin typeface="Trebuchet MS"/>
                <a:cs typeface="Trebuchet MS"/>
              </a:rPr>
              <a:t>Name</a:t>
            </a:r>
            <a:r>
              <a:rPr lang="en-IN" sz="2000" spc="-20" dirty="0">
                <a:latin typeface="Trebuchet MS"/>
                <a:cs typeface="Trebuchet MS"/>
              </a:rPr>
              <a:t> - Abhinav Prasad</a:t>
            </a:r>
            <a:r>
              <a:rPr sz="2000" spc="-20" dirty="0">
                <a:latin typeface="Trebuchet MS"/>
                <a:cs typeface="Trebuchet MS"/>
              </a:rPr>
              <a:t> </a:t>
            </a:r>
            <a:endParaRPr lang="en-IN" sz="2000" spc="-20" dirty="0">
              <a:latin typeface="Trebuchet MS"/>
              <a:cs typeface="Trebuchet MS"/>
            </a:endParaRPr>
          </a:p>
          <a:p>
            <a:pPr marL="222250" marR="923925" indent="133350">
              <a:lnSpc>
                <a:spcPct val="140800"/>
              </a:lnSpc>
              <a:spcBef>
                <a:spcPts val="95"/>
              </a:spcBef>
            </a:pPr>
            <a:r>
              <a:rPr sz="2000" dirty="0">
                <a:latin typeface="Trebuchet MS"/>
                <a:cs typeface="Trebuchet MS"/>
              </a:rPr>
              <a:t>College</a:t>
            </a:r>
            <a:r>
              <a:rPr sz="2000" spc="-75" dirty="0">
                <a:latin typeface="Trebuchet MS"/>
                <a:cs typeface="Trebuchet MS"/>
              </a:rPr>
              <a:t> </a:t>
            </a:r>
            <a:r>
              <a:rPr sz="2000" dirty="0">
                <a:latin typeface="Trebuchet MS"/>
                <a:cs typeface="Trebuchet MS"/>
              </a:rPr>
              <a:t>Name</a:t>
            </a:r>
            <a:r>
              <a:rPr lang="en-IN" sz="2000" dirty="0">
                <a:latin typeface="Trebuchet MS"/>
                <a:cs typeface="Trebuchet MS"/>
              </a:rPr>
              <a:t> </a:t>
            </a:r>
            <a:r>
              <a:rPr sz="2000" dirty="0">
                <a:latin typeface="Trebuchet MS"/>
                <a:cs typeface="Trebuchet MS"/>
              </a:rPr>
              <a:t>-</a:t>
            </a:r>
            <a:r>
              <a:rPr lang="en-IN" sz="2000" dirty="0">
                <a:latin typeface="Trebuchet MS"/>
                <a:cs typeface="Trebuchet MS"/>
              </a:rPr>
              <a:t> MIT World Peace University</a:t>
            </a:r>
            <a:r>
              <a:rPr sz="2000" spc="-50" dirty="0">
                <a:latin typeface="Trebuchet MS"/>
                <a:cs typeface="Trebuchet MS"/>
              </a:rPr>
              <a:t>]</a:t>
            </a:r>
            <a:endParaRPr sz="2000" dirty="0">
              <a:latin typeface="Trebuchet MS"/>
              <a:cs typeface="Trebuchet MS"/>
            </a:endParaRPr>
          </a:p>
          <a:p>
            <a:pPr marL="12700" marR="5080">
              <a:lnSpc>
                <a:spcPct val="100800"/>
              </a:lnSpc>
              <a:spcBef>
                <a:spcPts val="2000"/>
              </a:spcBef>
            </a:pPr>
            <a:r>
              <a:rPr sz="1800" b="1" dirty="0">
                <a:latin typeface="Trebuchet MS"/>
                <a:cs typeface="Trebuchet MS"/>
              </a:rPr>
              <a:t>AICTE</a:t>
            </a:r>
            <a:r>
              <a:rPr sz="1800" b="1" spc="-35" dirty="0">
                <a:latin typeface="Trebuchet MS"/>
                <a:cs typeface="Trebuchet MS"/>
              </a:rPr>
              <a:t> </a:t>
            </a:r>
            <a:r>
              <a:rPr sz="1800" b="1" dirty="0">
                <a:latin typeface="Trebuchet MS"/>
                <a:cs typeface="Trebuchet MS"/>
              </a:rPr>
              <a:t>STU</a:t>
            </a:r>
            <a:r>
              <a:rPr sz="1800" b="1" spc="-5" dirty="0">
                <a:latin typeface="Trebuchet MS"/>
                <a:cs typeface="Trebuchet MS"/>
              </a:rPr>
              <a:t> </a:t>
            </a:r>
            <a:r>
              <a:rPr sz="1800" b="1" dirty="0">
                <a:latin typeface="Trebuchet MS"/>
                <a:cs typeface="Trebuchet MS"/>
              </a:rPr>
              <a:t>ID</a:t>
            </a:r>
            <a:r>
              <a:rPr sz="1800" b="1" spc="-20" dirty="0">
                <a:latin typeface="Trebuchet MS"/>
                <a:cs typeface="Trebuchet MS"/>
              </a:rPr>
              <a:t> </a:t>
            </a:r>
            <a:r>
              <a:rPr sz="1800" b="1" dirty="0">
                <a:latin typeface="Trebuchet MS"/>
                <a:cs typeface="Trebuchet MS"/>
              </a:rPr>
              <a:t>:</a:t>
            </a:r>
            <a:r>
              <a:rPr sz="1800" b="1" spc="-45" dirty="0">
                <a:latin typeface="Trebuchet MS"/>
                <a:cs typeface="Trebuchet MS"/>
              </a:rPr>
              <a:t> </a:t>
            </a:r>
            <a:r>
              <a:rPr sz="1800" b="1" dirty="0">
                <a:latin typeface="Trebuchet MS"/>
                <a:cs typeface="Trebuchet MS"/>
              </a:rPr>
              <a:t>(</a:t>
            </a:r>
            <a:r>
              <a:rPr lang="en-IN" sz="1800" b="1" dirty="0">
                <a:latin typeface="Trebuchet MS"/>
                <a:cs typeface="Trebuchet MS"/>
              </a:rPr>
              <a:t>STU6a317fd386f261781628883</a:t>
            </a:r>
            <a:r>
              <a:rPr sz="1800" b="1" spc="-10" dirty="0">
                <a:latin typeface="Trebuchet MS"/>
                <a:cs typeface="Trebuchet MS"/>
              </a:rPr>
              <a:t>)</a:t>
            </a:r>
            <a:endParaRPr sz="1800" dirty="0">
              <a:latin typeface="Trebuchet MS"/>
              <a:cs typeface="Trebuchet MS"/>
            </a:endParaRPr>
          </a:p>
        </p:txBody>
      </p:sp>
      <p:sp>
        <p:nvSpPr>
          <p:cNvPr id="10" name="object 10" descr="$PPTXTitle"/>
          <p:cNvSpPr txBox="1">
            <a:spLocks noGrp="1"/>
          </p:cNvSpPr>
          <p:nvPr>
            <p:ph type="title"/>
          </p:nvPr>
        </p:nvSpPr>
        <p:spPr>
          <a:xfrm>
            <a:off x="757555" y="2862580"/>
            <a:ext cx="7624445" cy="386003"/>
          </a:xfrm>
          <a:prstGeom prst="rect">
            <a:avLst/>
          </a:prstGeom>
        </p:spPr>
        <p:txBody>
          <a:bodyPr vert="horz" wrap="square" lIns="0" tIns="16510" rIns="0" bIns="0" rtlCol="0">
            <a:spAutoFit/>
          </a:bodyPr>
          <a:lstStyle/>
          <a:p>
            <a:pPr marL="12700">
              <a:lnSpc>
                <a:spcPct val="100000"/>
              </a:lnSpc>
              <a:spcBef>
                <a:spcPts val="130"/>
              </a:spcBef>
            </a:pPr>
            <a:r>
              <a:rPr sz="2400" b="0" dirty="0">
                <a:latin typeface="Trebuchet MS"/>
                <a:cs typeface="Trebuchet MS"/>
              </a:rPr>
              <a:t>Project</a:t>
            </a:r>
            <a:r>
              <a:rPr sz="2400" b="0" spc="-245" dirty="0">
                <a:latin typeface="Trebuchet MS"/>
                <a:cs typeface="Trebuchet MS"/>
              </a:rPr>
              <a:t> </a:t>
            </a:r>
            <a:r>
              <a:rPr sz="2400" b="0" dirty="0">
                <a:latin typeface="Trebuchet MS"/>
                <a:cs typeface="Trebuchet MS"/>
              </a:rPr>
              <a:t>Title</a:t>
            </a:r>
            <a:r>
              <a:rPr sz="2400" b="0" spc="-204" dirty="0">
                <a:latin typeface="Trebuchet MS"/>
                <a:cs typeface="Trebuchet MS"/>
              </a:rPr>
              <a:t> </a:t>
            </a:r>
            <a:r>
              <a:rPr lang="en-IN" sz="2400" b="0" spc="-50" dirty="0">
                <a:latin typeface="Trebuchet MS"/>
                <a:cs typeface="Trebuchet MS"/>
              </a:rPr>
              <a:t>– Seasonal Agriculture Performance Analysis</a:t>
            </a:r>
            <a:endParaRPr sz="2400" dirty="0">
              <a:latin typeface="Trebuchet MS"/>
              <a:cs typeface="Trebuchet MS"/>
            </a:endParaRPr>
          </a:p>
        </p:txBody>
      </p:sp>
      <p:pic>
        <p:nvPicPr>
          <p:cNvPr id="11" name="object 11"/>
          <p:cNvPicPr/>
          <p:nvPr/>
        </p:nvPicPr>
        <p:blipFill>
          <a:blip r:embed="rId2" cstate="print"/>
          <a:stretch>
            <a:fillRect/>
          </a:stretch>
        </p:blipFill>
        <p:spPr>
          <a:xfrm>
            <a:off x="1666875" y="6467475"/>
            <a:ext cx="76200" cy="177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body" idx="1"/>
          </p:nvPr>
        </p:nvSpPr>
        <p:spPr>
          <a:xfrm>
            <a:off x="1126172" y="1834514"/>
            <a:ext cx="5363845" cy="4017125"/>
          </a:xfrm>
          <a:prstGeom prst="rect">
            <a:avLst/>
          </a:prstGeom>
        </p:spPr>
        <p:txBody>
          <a:bodyPr vert="horz" wrap="square" lIns="0" tIns="76835" rIns="0" bIns="0" rtlCol="0">
            <a:spAutoFit/>
          </a:bodyPr>
          <a:lstStyle/>
          <a:p>
            <a:pPr marL="355600" marR="5080" indent="-343535">
              <a:lnSpc>
                <a:spcPct val="80200"/>
              </a:lnSpc>
              <a:spcBef>
                <a:spcPts val="605"/>
              </a:spcBef>
              <a:buClr>
                <a:srgbClr val="2D936B"/>
              </a:buClr>
              <a:buSzPct val="77500"/>
              <a:buFont typeface="Wingdings"/>
              <a:buChar char=""/>
              <a:tabLst>
                <a:tab pos="355600" algn="l"/>
              </a:tabLst>
            </a:pPr>
            <a:r>
              <a:rPr dirty="0"/>
              <a:t>(Agricultural</a:t>
            </a:r>
            <a:r>
              <a:rPr spc="-55" dirty="0"/>
              <a:t> </a:t>
            </a:r>
            <a:r>
              <a:rPr dirty="0"/>
              <a:t>activities</a:t>
            </a:r>
            <a:r>
              <a:rPr spc="-50" dirty="0"/>
              <a:t> </a:t>
            </a:r>
            <a:r>
              <a:rPr dirty="0"/>
              <a:t>are</a:t>
            </a:r>
            <a:r>
              <a:rPr spc="-105" dirty="0"/>
              <a:t> </a:t>
            </a:r>
            <a:r>
              <a:rPr dirty="0"/>
              <a:t>influenced</a:t>
            </a:r>
            <a:r>
              <a:rPr spc="-55" dirty="0"/>
              <a:t> </a:t>
            </a:r>
            <a:r>
              <a:rPr dirty="0"/>
              <a:t>by</a:t>
            </a:r>
            <a:r>
              <a:rPr spc="-85" dirty="0"/>
              <a:t> </a:t>
            </a:r>
            <a:r>
              <a:rPr spc="-10" dirty="0"/>
              <a:t>seasonal </a:t>
            </a:r>
            <a:r>
              <a:rPr dirty="0"/>
              <a:t>variations</a:t>
            </a:r>
            <a:r>
              <a:rPr spc="-30" dirty="0"/>
              <a:t> </a:t>
            </a:r>
            <a:r>
              <a:rPr dirty="0"/>
              <a:t>in</a:t>
            </a:r>
            <a:r>
              <a:rPr spc="-85" dirty="0"/>
              <a:t> </a:t>
            </a:r>
            <a:r>
              <a:rPr dirty="0"/>
              <a:t>environmental</a:t>
            </a:r>
            <a:r>
              <a:rPr spc="-105" dirty="0"/>
              <a:t> </a:t>
            </a:r>
            <a:r>
              <a:rPr dirty="0"/>
              <a:t>conditions,</a:t>
            </a:r>
            <a:r>
              <a:rPr spc="-25" dirty="0"/>
              <a:t> </a:t>
            </a:r>
            <a:r>
              <a:rPr spc="-10" dirty="0"/>
              <a:t>farming </a:t>
            </a:r>
            <a:r>
              <a:rPr dirty="0"/>
              <a:t>practices,</a:t>
            </a:r>
            <a:r>
              <a:rPr spc="-50" dirty="0"/>
              <a:t> </a:t>
            </a:r>
            <a:r>
              <a:rPr dirty="0"/>
              <a:t>resource</a:t>
            </a:r>
            <a:r>
              <a:rPr spc="-110" dirty="0"/>
              <a:t> </a:t>
            </a:r>
            <a:r>
              <a:rPr dirty="0"/>
              <a:t>availability</a:t>
            </a:r>
            <a:r>
              <a:rPr spc="-10" dirty="0"/>
              <a:t> </a:t>
            </a:r>
            <a:r>
              <a:rPr dirty="0"/>
              <a:t>and</a:t>
            </a:r>
            <a:r>
              <a:rPr spc="-60" dirty="0"/>
              <a:t> </a:t>
            </a:r>
            <a:r>
              <a:rPr spc="-10" dirty="0"/>
              <a:t>market conditions.</a:t>
            </a:r>
            <a:r>
              <a:rPr spc="-100" dirty="0"/>
              <a:t> </a:t>
            </a:r>
            <a:r>
              <a:rPr dirty="0"/>
              <a:t>As</a:t>
            </a:r>
            <a:r>
              <a:rPr spc="-30" dirty="0"/>
              <a:t> </a:t>
            </a:r>
            <a:r>
              <a:rPr dirty="0"/>
              <a:t>a</a:t>
            </a:r>
            <a:r>
              <a:rPr spc="-45" dirty="0"/>
              <a:t> </a:t>
            </a:r>
            <a:r>
              <a:rPr dirty="0"/>
              <a:t>result,</a:t>
            </a:r>
            <a:r>
              <a:rPr spc="-25" dirty="0"/>
              <a:t> </a:t>
            </a:r>
            <a:r>
              <a:rPr dirty="0"/>
              <a:t>agricultural</a:t>
            </a:r>
            <a:r>
              <a:rPr spc="-30" dirty="0"/>
              <a:t> </a:t>
            </a:r>
            <a:r>
              <a:rPr spc="-10" dirty="0"/>
              <a:t>performance </a:t>
            </a:r>
            <a:r>
              <a:rPr dirty="0"/>
              <a:t>may</a:t>
            </a:r>
            <a:r>
              <a:rPr spc="-35" dirty="0"/>
              <a:t> </a:t>
            </a:r>
            <a:r>
              <a:rPr dirty="0"/>
              <a:t>differ</a:t>
            </a:r>
            <a:r>
              <a:rPr spc="-45" dirty="0"/>
              <a:t> </a:t>
            </a:r>
            <a:r>
              <a:rPr dirty="0"/>
              <a:t>from</a:t>
            </a:r>
            <a:r>
              <a:rPr spc="-35" dirty="0"/>
              <a:t> </a:t>
            </a:r>
            <a:r>
              <a:rPr dirty="0"/>
              <a:t>one</a:t>
            </a:r>
            <a:r>
              <a:rPr spc="-60" dirty="0"/>
              <a:t> </a:t>
            </a:r>
            <a:r>
              <a:rPr dirty="0"/>
              <a:t>season</a:t>
            </a:r>
            <a:r>
              <a:rPr spc="-60" dirty="0"/>
              <a:t> </a:t>
            </a:r>
            <a:r>
              <a:rPr dirty="0"/>
              <a:t>to</a:t>
            </a:r>
            <a:r>
              <a:rPr spc="-45" dirty="0"/>
              <a:t> </a:t>
            </a:r>
            <a:r>
              <a:rPr spc="-30" dirty="0"/>
              <a:t>another.</a:t>
            </a:r>
            <a:r>
              <a:rPr spc="5" dirty="0"/>
              <a:t> </a:t>
            </a:r>
            <a:r>
              <a:rPr spc="-10" dirty="0"/>
              <a:t>However, </a:t>
            </a:r>
            <a:r>
              <a:rPr dirty="0"/>
              <a:t>raw</a:t>
            </a:r>
            <a:r>
              <a:rPr spc="-45" dirty="0"/>
              <a:t> </a:t>
            </a:r>
            <a:r>
              <a:rPr dirty="0"/>
              <a:t>agricultural</a:t>
            </a:r>
            <a:r>
              <a:rPr spc="-40" dirty="0"/>
              <a:t> </a:t>
            </a:r>
            <a:r>
              <a:rPr dirty="0"/>
              <a:t>data</a:t>
            </a:r>
            <a:r>
              <a:rPr spc="-45" dirty="0"/>
              <a:t> </a:t>
            </a:r>
            <a:r>
              <a:rPr dirty="0"/>
              <a:t>does</a:t>
            </a:r>
            <a:r>
              <a:rPr spc="-35" dirty="0"/>
              <a:t> </a:t>
            </a:r>
            <a:r>
              <a:rPr dirty="0"/>
              <a:t>not</a:t>
            </a:r>
            <a:r>
              <a:rPr spc="-85" dirty="0"/>
              <a:t> </a:t>
            </a:r>
            <a:r>
              <a:rPr dirty="0"/>
              <a:t>clearly</a:t>
            </a:r>
            <a:r>
              <a:rPr spc="-55" dirty="0"/>
              <a:t> </a:t>
            </a:r>
            <a:r>
              <a:rPr dirty="0"/>
              <a:t>explain</a:t>
            </a:r>
            <a:r>
              <a:rPr spc="-20" dirty="0"/>
              <a:t> </a:t>
            </a:r>
            <a:r>
              <a:rPr spc="-25" dirty="0"/>
              <a:t>how </a:t>
            </a:r>
            <a:r>
              <a:rPr dirty="0"/>
              <a:t>agricultural</a:t>
            </a:r>
            <a:r>
              <a:rPr spc="-55" dirty="0"/>
              <a:t> </a:t>
            </a:r>
            <a:r>
              <a:rPr dirty="0"/>
              <a:t>performance</a:t>
            </a:r>
            <a:r>
              <a:rPr spc="-35" dirty="0"/>
              <a:t> </a:t>
            </a:r>
            <a:r>
              <a:rPr dirty="0"/>
              <a:t>changes</a:t>
            </a:r>
            <a:r>
              <a:rPr spc="-120" dirty="0"/>
              <a:t> </a:t>
            </a:r>
            <a:r>
              <a:rPr dirty="0"/>
              <a:t>across</a:t>
            </a:r>
            <a:r>
              <a:rPr spc="-50" dirty="0"/>
              <a:t> </a:t>
            </a:r>
            <a:r>
              <a:rPr dirty="0"/>
              <a:t>seasons</a:t>
            </a:r>
            <a:r>
              <a:rPr spc="-45" dirty="0"/>
              <a:t> </a:t>
            </a:r>
            <a:r>
              <a:rPr spc="-25" dirty="0"/>
              <a:t>or </a:t>
            </a:r>
            <a:r>
              <a:rPr dirty="0"/>
              <a:t>what</a:t>
            </a:r>
            <a:r>
              <a:rPr spc="-25" dirty="0"/>
              <a:t> </a:t>
            </a:r>
            <a:r>
              <a:rPr dirty="0"/>
              <a:t>patterns</a:t>
            </a:r>
            <a:r>
              <a:rPr spc="-35" dirty="0"/>
              <a:t> </a:t>
            </a:r>
            <a:r>
              <a:rPr dirty="0"/>
              <a:t>can</a:t>
            </a:r>
            <a:r>
              <a:rPr spc="-25" dirty="0"/>
              <a:t> </a:t>
            </a:r>
            <a:r>
              <a:rPr dirty="0"/>
              <a:t>be</a:t>
            </a:r>
            <a:r>
              <a:rPr spc="-20" dirty="0"/>
              <a:t> </a:t>
            </a:r>
            <a:r>
              <a:rPr dirty="0"/>
              <a:t>observed</a:t>
            </a:r>
            <a:r>
              <a:rPr spc="-45" dirty="0"/>
              <a:t> </a:t>
            </a:r>
            <a:r>
              <a:rPr dirty="0"/>
              <a:t>in</a:t>
            </a:r>
            <a:r>
              <a:rPr spc="-90" dirty="0"/>
              <a:t> </a:t>
            </a:r>
            <a:r>
              <a:rPr spc="-10" dirty="0"/>
              <a:t>different </a:t>
            </a:r>
            <a:r>
              <a:rPr dirty="0"/>
              <a:t>seasonal</a:t>
            </a:r>
            <a:r>
              <a:rPr spc="-25" dirty="0"/>
              <a:t> </a:t>
            </a:r>
            <a:r>
              <a:rPr dirty="0"/>
              <a:t>conditions.</a:t>
            </a:r>
            <a:r>
              <a:rPr spc="-15" dirty="0"/>
              <a:t> </a:t>
            </a:r>
            <a:r>
              <a:rPr dirty="0"/>
              <a:t>The</a:t>
            </a:r>
            <a:r>
              <a:rPr spc="-80" dirty="0"/>
              <a:t> </a:t>
            </a:r>
            <a:r>
              <a:rPr dirty="0"/>
              <a:t>problem</a:t>
            </a:r>
            <a:r>
              <a:rPr spc="-50" dirty="0"/>
              <a:t> </a:t>
            </a:r>
            <a:r>
              <a:rPr dirty="0"/>
              <a:t>is</a:t>
            </a:r>
            <a:r>
              <a:rPr spc="-95" dirty="0"/>
              <a:t> </a:t>
            </a:r>
            <a:r>
              <a:rPr dirty="0"/>
              <a:t>to</a:t>
            </a:r>
            <a:r>
              <a:rPr spc="-60" dirty="0"/>
              <a:t> </a:t>
            </a:r>
            <a:r>
              <a:rPr dirty="0"/>
              <a:t>analyze</a:t>
            </a:r>
            <a:r>
              <a:rPr spc="-5" dirty="0"/>
              <a:t> </a:t>
            </a:r>
            <a:r>
              <a:rPr spc="-25" dirty="0"/>
              <a:t>the </a:t>
            </a:r>
            <a:r>
              <a:rPr dirty="0"/>
              <a:t>given</a:t>
            </a:r>
            <a:r>
              <a:rPr spc="-95" dirty="0"/>
              <a:t> </a:t>
            </a:r>
            <a:r>
              <a:rPr dirty="0"/>
              <a:t>agricultural</a:t>
            </a:r>
            <a:r>
              <a:rPr spc="-35" dirty="0"/>
              <a:t> </a:t>
            </a:r>
            <a:r>
              <a:rPr dirty="0"/>
              <a:t>dataset</a:t>
            </a:r>
            <a:r>
              <a:rPr spc="-90" dirty="0"/>
              <a:t> </a:t>
            </a:r>
            <a:r>
              <a:rPr dirty="0"/>
              <a:t>and</a:t>
            </a:r>
            <a:r>
              <a:rPr spc="-45" dirty="0"/>
              <a:t> </a:t>
            </a:r>
            <a:r>
              <a:rPr dirty="0"/>
              <a:t>investigate</a:t>
            </a:r>
            <a:r>
              <a:rPr spc="-20" dirty="0"/>
              <a:t> </a:t>
            </a:r>
            <a:r>
              <a:rPr spc="-10" dirty="0"/>
              <a:t>seasonal </a:t>
            </a:r>
            <a:r>
              <a:rPr dirty="0"/>
              <a:t>differences</a:t>
            </a:r>
            <a:r>
              <a:rPr spc="-70" dirty="0"/>
              <a:t> </a:t>
            </a:r>
            <a:r>
              <a:rPr dirty="0"/>
              <a:t>in</a:t>
            </a:r>
            <a:r>
              <a:rPr spc="-55" dirty="0"/>
              <a:t> </a:t>
            </a:r>
            <a:r>
              <a:rPr dirty="0"/>
              <a:t>agricultural</a:t>
            </a:r>
            <a:r>
              <a:rPr spc="-70" dirty="0"/>
              <a:t> </a:t>
            </a:r>
            <a:r>
              <a:rPr dirty="0"/>
              <a:t>performance</a:t>
            </a:r>
            <a:r>
              <a:rPr spc="-120" dirty="0"/>
              <a:t> </a:t>
            </a:r>
            <a:r>
              <a:rPr spc="-25" dirty="0"/>
              <a:t>by </a:t>
            </a:r>
            <a:r>
              <a:rPr dirty="0"/>
              <a:t>identifying</a:t>
            </a:r>
            <a:r>
              <a:rPr spc="-110" dirty="0"/>
              <a:t> </a:t>
            </a:r>
            <a:r>
              <a:rPr dirty="0"/>
              <a:t>meaningful</a:t>
            </a:r>
            <a:r>
              <a:rPr spc="-70" dirty="0"/>
              <a:t> </a:t>
            </a:r>
            <a:r>
              <a:rPr dirty="0"/>
              <a:t>patterns,</a:t>
            </a:r>
            <a:r>
              <a:rPr spc="-65" dirty="0"/>
              <a:t> </a:t>
            </a:r>
            <a:r>
              <a:rPr spc="-10" dirty="0"/>
              <a:t>trends, </a:t>
            </a:r>
            <a:r>
              <a:rPr dirty="0"/>
              <a:t>relationships</a:t>
            </a:r>
            <a:r>
              <a:rPr spc="-100" dirty="0"/>
              <a:t> </a:t>
            </a:r>
            <a:r>
              <a:rPr dirty="0"/>
              <a:t>and</a:t>
            </a:r>
            <a:r>
              <a:rPr spc="-30" dirty="0"/>
              <a:t> </a:t>
            </a:r>
            <a:r>
              <a:rPr dirty="0"/>
              <a:t>variations</a:t>
            </a:r>
            <a:r>
              <a:rPr spc="-20" dirty="0"/>
              <a:t> </a:t>
            </a:r>
            <a:r>
              <a:rPr dirty="0"/>
              <a:t>within</a:t>
            </a:r>
            <a:r>
              <a:rPr spc="-75" dirty="0"/>
              <a:t> </a:t>
            </a:r>
            <a:r>
              <a:rPr dirty="0"/>
              <a:t>the</a:t>
            </a:r>
            <a:r>
              <a:rPr spc="-5" dirty="0"/>
              <a:t> </a:t>
            </a:r>
            <a:r>
              <a:rPr spc="-10" dirty="0"/>
              <a:t>available data.</a:t>
            </a:r>
          </a:p>
        </p:txBody>
      </p:sp>
      <p:sp>
        <p:nvSpPr>
          <p:cNvPr id="8" name="object 8" descr="$PPTXTitle"/>
          <p:cNvSpPr txBox="1">
            <a:spLocks noGrp="1"/>
          </p:cNvSpPr>
          <p:nvPr>
            <p:ph type="title"/>
          </p:nvPr>
        </p:nvSpPr>
        <p:spPr>
          <a:xfrm>
            <a:off x="834072" y="575055"/>
            <a:ext cx="5655945" cy="678180"/>
          </a:xfrm>
          <a:prstGeom prst="rect">
            <a:avLst/>
          </a:prstGeom>
        </p:spPr>
        <p:txBody>
          <a:bodyPr vert="horz" wrap="square" lIns="0" tIns="16510" rIns="0" bIns="0" rtlCol="0">
            <a:spAutoFit/>
          </a:bodyPr>
          <a:lstStyle/>
          <a:p>
            <a:pPr marL="12700">
              <a:lnSpc>
                <a:spcPct val="100000"/>
              </a:lnSpc>
              <a:spcBef>
                <a:spcPts val="130"/>
              </a:spcBef>
            </a:pPr>
            <a:r>
              <a:rPr sz="4250" dirty="0"/>
              <a:t>PROBLEM</a:t>
            </a:r>
            <a:r>
              <a:rPr sz="4250" spc="55" dirty="0"/>
              <a:t>  </a:t>
            </a:r>
            <a:r>
              <a:rPr sz="4250" spc="-35" dirty="0"/>
              <a:t>STATEMENT</a:t>
            </a:r>
            <a:endParaRPr sz="425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2</a:t>
            </a:fld>
            <a:endParaRPr spc="-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7" y="0"/>
            <a:ext cx="4752975" cy="6863080"/>
            <a:chOff x="7443847" y="0"/>
            <a:chExt cx="4752975" cy="6863080"/>
          </a:xfrm>
        </p:grpSpPr>
        <p:sp>
          <p:nvSpPr>
            <p:cNvPr id="4" name="object 4"/>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5" name="object 5"/>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6" name="object 6"/>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7" name="object 7"/>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8" name="object 8"/>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9" name="object 9"/>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10" name="object 10"/>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11" name="object 11"/>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2" name="object 12"/>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3" name="object 1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4" name="object 1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5" name="object 1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6" name="object 16" descr="$PPTXTitle"/>
          <p:cNvSpPr txBox="1">
            <a:spLocks noGrp="1"/>
          </p:cNvSpPr>
          <p:nvPr>
            <p:ph type="title"/>
          </p:nvPr>
        </p:nvSpPr>
        <p:spPr>
          <a:xfrm>
            <a:off x="739775" y="829627"/>
            <a:ext cx="5838190" cy="4349268"/>
          </a:xfrm>
          <a:prstGeom prst="rect">
            <a:avLst/>
          </a:prstGeom>
        </p:spPr>
        <p:txBody>
          <a:bodyPr vert="horz" wrap="square" lIns="0" tIns="9525" rIns="0" bIns="0" rtlCol="0">
            <a:spAutoFit/>
          </a:bodyPr>
          <a:lstStyle/>
          <a:p>
            <a:r>
              <a:rPr sz="1800" dirty="0"/>
              <a:t>Project</a:t>
            </a:r>
            <a:r>
              <a:rPr sz="1800" spc="40" dirty="0"/>
              <a:t> </a:t>
            </a:r>
            <a:r>
              <a:rPr sz="1800" spc="-10" dirty="0"/>
              <a:t>Description</a:t>
            </a:r>
            <a:br>
              <a:rPr lang="en-IN" sz="1800" spc="-10" dirty="0"/>
            </a:br>
            <a:br>
              <a:rPr lang="en-IN" sz="1800" spc="-10" dirty="0"/>
            </a:br>
            <a:r>
              <a:rPr lang="en-IN" sz="1400" dirty="0"/>
              <a:t>Research Objectives</a:t>
            </a:r>
            <a:br>
              <a:rPr lang="en-IN" sz="1400" dirty="0"/>
            </a:br>
            <a:r>
              <a:rPr lang="en-IN" sz="1400" b="0" dirty="0"/>
              <a:t>Quantify seasonal yield differentials across major crop cycles including Kharif, Rabi, and Summer (Zaid) to detect historical bottlenecks.</a:t>
            </a:r>
            <a:br>
              <a:rPr lang="en-IN" sz="1400" b="0" dirty="0"/>
            </a:br>
            <a:r>
              <a:rPr lang="en-IN" sz="1400" b="0" dirty="0"/>
              <a:t>Synthesize environmental indicators like seasonal rainfall anomalies, fertilizer intensity, and surface temperature against production metrics.</a:t>
            </a:r>
            <a:br>
              <a:rPr lang="en-IN" sz="1400" b="0" dirty="0"/>
            </a:br>
            <a:r>
              <a:rPr lang="en-IN" sz="1400" b="0" dirty="0"/>
              <a:t>Build automated data cleaning and statistical aggregation pipelines that transform unstructured historical records into actionable intelligence.</a:t>
            </a:r>
            <a:br>
              <a:rPr lang="en-IN" sz="1400" b="0" dirty="0"/>
            </a:br>
            <a:br>
              <a:rPr lang="en-IN" sz="1400" b="0" dirty="0"/>
            </a:br>
            <a:r>
              <a:rPr lang="en-IN" sz="1400" dirty="0"/>
              <a:t>Methodological Scope</a:t>
            </a:r>
            <a:br>
              <a:rPr lang="en-IN" sz="1400" dirty="0"/>
            </a:br>
            <a:r>
              <a:rPr lang="en-IN" sz="1400" b="0" dirty="0"/>
              <a:t>Employs multivariate exploratory data analysis (EDA), anomaly detection, and regression algorithms to forecast seasonal performance.</a:t>
            </a:r>
            <a:br>
              <a:rPr lang="en-IN" sz="1400" b="0" dirty="0"/>
            </a:br>
            <a:r>
              <a:rPr lang="en-IN" sz="1400" b="0" dirty="0"/>
              <a:t>Generates interactive visualizations and heatmaps to aid stakeholders in pinpointing optimal planting schedules.</a:t>
            </a:r>
            <a:br>
              <a:rPr lang="en-IN" sz="1400" b="0" dirty="0"/>
            </a:br>
            <a:r>
              <a:rPr lang="en-IN" sz="1400" b="0" dirty="0"/>
              <a:t>Establishes an empirical baseline for data-backed crop selection, fertilizer allocation, and localized harvest planning.</a:t>
            </a:r>
            <a:br>
              <a:rPr lang="en-IN" sz="1400" b="0" dirty="0"/>
            </a:br>
            <a:br>
              <a:rPr lang="en-IN" sz="1800" dirty="0"/>
            </a:br>
            <a:endParaRPr sz="1800" dirty="0"/>
          </a:p>
        </p:txBody>
      </p:sp>
      <p:sp>
        <p:nvSpPr>
          <p:cNvPr id="21" name="object 21"/>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3</a:t>
            </a:fld>
            <a:endParaRPr spc="-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descr="$PPTXTitle"/>
          <p:cNvSpPr txBox="1">
            <a:spLocks noGrp="1"/>
          </p:cNvSpPr>
          <p:nvPr>
            <p:ph type="title"/>
          </p:nvPr>
        </p:nvSpPr>
        <p:spPr>
          <a:xfrm>
            <a:off x="699452" y="891793"/>
            <a:ext cx="5013960" cy="4602542"/>
          </a:xfrm>
          <a:prstGeom prst="rect">
            <a:avLst/>
          </a:prstGeom>
        </p:spPr>
        <p:txBody>
          <a:bodyPr vert="horz" wrap="square" lIns="0" tIns="16510" rIns="0" bIns="0" rtlCol="0">
            <a:spAutoFit/>
          </a:bodyPr>
          <a:lstStyle/>
          <a:p>
            <a:r>
              <a:rPr sz="1800" dirty="0"/>
              <a:t>WHO</a:t>
            </a:r>
            <a:r>
              <a:rPr sz="1800" spc="-245" dirty="0"/>
              <a:t> </a:t>
            </a:r>
            <a:r>
              <a:rPr sz="1800" dirty="0"/>
              <a:t>ARE</a:t>
            </a:r>
            <a:r>
              <a:rPr sz="1800" spc="-70" dirty="0"/>
              <a:t> </a:t>
            </a:r>
            <a:r>
              <a:rPr sz="1800" dirty="0"/>
              <a:t>THE</a:t>
            </a:r>
            <a:r>
              <a:rPr sz="1800" spc="-60" dirty="0"/>
              <a:t> </a:t>
            </a:r>
            <a:r>
              <a:rPr sz="1800" dirty="0"/>
              <a:t>END</a:t>
            </a:r>
            <a:r>
              <a:rPr sz="1800" spc="-70" dirty="0"/>
              <a:t> </a:t>
            </a:r>
            <a:r>
              <a:rPr sz="1800" spc="-10" dirty="0"/>
              <a:t>USERS?</a:t>
            </a:r>
            <a:br>
              <a:rPr lang="en-IN" sz="1800" spc="-10" dirty="0"/>
            </a:br>
            <a:br>
              <a:rPr lang="en-IN" sz="1400" dirty="0"/>
            </a:br>
            <a:r>
              <a:rPr lang="en-IN" sz="1400" dirty="0"/>
              <a:t>Farmers &amp; FPOs</a:t>
            </a:r>
            <a:br>
              <a:rPr lang="en-IN" sz="1400" dirty="0"/>
            </a:br>
            <a:r>
              <a:rPr lang="en-IN" sz="1400" b="0" dirty="0"/>
              <a:t>Guides smallholder farmers and Producer Organizations on crop selection, sowing schedules, and seasonal resource budgeting to minimize yield losses.</a:t>
            </a:r>
            <a:br>
              <a:rPr lang="en-IN" sz="1400" b="0" dirty="0"/>
            </a:br>
            <a:br>
              <a:rPr lang="en-IN" sz="1400" b="0" dirty="0"/>
            </a:br>
            <a:r>
              <a:rPr lang="en-IN" sz="1400" dirty="0" err="1"/>
              <a:t>Agritech</a:t>
            </a:r>
            <a:r>
              <a:rPr lang="en-IN" sz="1400" dirty="0"/>
              <a:t> Planners</a:t>
            </a:r>
            <a:br>
              <a:rPr lang="en-IN" sz="1400" dirty="0"/>
            </a:br>
            <a:r>
              <a:rPr lang="en-IN" sz="1400" b="0" dirty="0"/>
              <a:t>Enables government bodies and policy planners to prepare seasonal food security reserves, drought buffers, and minimum support prices.</a:t>
            </a:r>
            <a:br>
              <a:rPr lang="en-IN" sz="1400" b="0" dirty="0"/>
            </a:br>
            <a:br>
              <a:rPr lang="en-IN" sz="1400" b="0" dirty="0"/>
            </a:br>
            <a:r>
              <a:rPr lang="en-IN" sz="1400" dirty="0"/>
              <a:t>Supply Chains</a:t>
            </a:r>
            <a:br>
              <a:rPr lang="en-IN" sz="1400" dirty="0"/>
            </a:br>
            <a:r>
              <a:rPr lang="en-IN" sz="1400" b="0" dirty="0"/>
              <a:t>Assists commodity buyers, cold storage facilities, and logistics firms in anticipating post-harvest volume spikes across seasonal corridors.</a:t>
            </a:r>
            <a:br>
              <a:rPr lang="en-IN" sz="1400" b="0" dirty="0"/>
            </a:br>
            <a:br>
              <a:rPr lang="en-IN" sz="1400" b="0" dirty="0"/>
            </a:br>
            <a:r>
              <a:rPr lang="en-IN" sz="1400" dirty="0"/>
              <a:t>Agri-Researchers</a:t>
            </a:r>
            <a:br>
              <a:rPr lang="en-IN" sz="1400" dirty="0"/>
            </a:br>
            <a:r>
              <a:rPr lang="en-IN" sz="1400" b="0" dirty="0"/>
              <a:t>Supplies verified seasonal performance indices to agronomists studying crop resilience against erratic microclimate shifts.</a:t>
            </a:r>
            <a:br>
              <a:rPr lang="en-IN" sz="1400" b="0" dirty="0"/>
            </a:br>
            <a:endParaRPr sz="14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110489">
              <a:lnSpc>
                <a:spcPct val="100000"/>
              </a:lnSpc>
              <a:spcBef>
                <a:spcPts val="55"/>
              </a:spcBef>
            </a:pPr>
            <a:fld id="{81D60167-4931-47E6-BA6A-407CBD079E47}" type="slidenum">
              <a:rPr spc="-50" dirty="0"/>
              <a:t>4</a:t>
            </a:fld>
            <a:endParaRPr spc="-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a:p>
        </p:txBody>
      </p:sp>
      <p:grpSp>
        <p:nvGrpSpPr>
          <p:cNvPr id="3" name="object 3"/>
          <p:cNvGrpSpPr/>
          <p:nvPr/>
        </p:nvGrpSpPr>
        <p:grpSpPr>
          <a:xfrm>
            <a:off x="7443847" y="0"/>
            <a:ext cx="4752975" cy="6863080"/>
            <a:chOff x="7443847" y="0"/>
            <a:chExt cx="4752975" cy="6863080"/>
          </a:xfrm>
        </p:grpSpPr>
        <p:sp>
          <p:nvSpPr>
            <p:cNvPr id="4" name="object 4"/>
            <p:cNvSpPr/>
            <p:nvPr/>
          </p:nvSpPr>
          <p:spPr>
            <a:xfrm>
              <a:off x="7448609" y="4825"/>
              <a:ext cx="4743450" cy="6853555"/>
            </a:xfrm>
            <a:custGeom>
              <a:avLst/>
              <a:gdLst/>
              <a:ahLst/>
              <a:cxnLst/>
              <a:rect l="l" t="t" r="r" b="b"/>
              <a:pathLst>
                <a:path w="4743450" h="6853555">
                  <a:moveTo>
                    <a:pt x="1928816" y="0"/>
                  </a:moveTo>
                  <a:lnTo>
                    <a:pt x="3147169" y="6853174"/>
                  </a:lnTo>
                </a:path>
                <a:path w="4743450" h="6853555">
                  <a:moveTo>
                    <a:pt x="4743390" y="3690070"/>
                  </a:moveTo>
                  <a:lnTo>
                    <a:pt x="0" y="6853174"/>
                  </a:lnTo>
                </a:path>
              </a:pathLst>
            </a:custGeom>
            <a:ln w="9525">
              <a:solidFill>
                <a:srgbClr val="5FCAEE"/>
              </a:solidFill>
            </a:ln>
          </p:spPr>
          <p:txBody>
            <a:bodyPr wrap="square" lIns="0" tIns="0" rIns="0" bIns="0" rtlCol="0"/>
            <a:lstStyle/>
            <a:p>
              <a:endParaRPr/>
            </a:p>
          </p:txBody>
        </p:sp>
        <p:sp>
          <p:nvSpPr>
            <p:cNvPr id="5" name="object 5"/>
            <p:cNvSpPr/>
            <p:nvPr/>
          </p:nvSpPr>
          <p:spPr>
            <a:xfrm>
              <a:off x="9182100" y="0"/>
              <a:ext cx="3009900" cy="6858000"/>
            </a:xfrm>
            <a:custGeom>
              <a:avLst/>
              <a:gdLst/>
              <a:ahLst/>
              <a:cxnLst/>
              <a:rect l="l" t="t" r="r" b="b"/>
              <a:pathLst>
                <a:path w="3009900" h="6858000">
                  <a:moveTo>
                    <a:pt x="3009900" y="0"/>
                  </a:moveTo>
                  <a:lnTo>
                    <a:pt x="2044400" y="0"/>
                  </a:lnTo>
                  <a:lnTo>
                    <a:pt x="0" y="6858000"/>
                  </a:lnTo>
                  <a:lnTo>
                    <a:pt x="3009900" y="6858000"/>
                  </a:lnTo>
                  <a:lnTo>
                    <a:pt x="3009900" y="0"/>
                  </a:lnTo>
                  <a:close/>
                </a:path>
              </a:pathLst>
            </a:custGeom>
            <a:solidFill>
              <a:srgbClr val="5FCAEE">
                <a:alpha val="36077"/>
              </a:srgbClr>
            </a:solidFill>
          </p:spPr>
          <p:txBody>
            <a:bodyPr wrap="square" lIns="0" tIns="0" rIns="0" bIns="0" rtlCol="0"/>
            <a:lstStyle/>
            <a:p>
              <a:endParaRPr/>
            </a:p>
          </p:txBody>
        </p:sp>
        <p:sp>
          <p:nvSpPr>
            <p:cNvPr id="6" name="object 6"/>
            <p:cNvSpPr/>
            <p:nvPr/>
          </p:nvSpPr>
          <p:spPr>
            <a:xfrm>
              <a:off x="9602878" y="0"/>
              <a:ext cx="2589530" cy="6858000"/>
            </a:xfrm>
            <a:custGeom>
              <a:avLst/>
              <a:gdLst/>
              <a:ahLst/>
              <a:cxnLst/>
              <a:rect l="l" t="t" r="r" b="b"/>
              <a:pathLst>
                <a:path w="2589529" h="6858000">
                  <a:moveTo>
                    <a:pt x="2589120" y="0"/>
                  </a:moveTo>
                  <a:lnTo>
                    <a:pt x="0" y="0"/>
                  </a:lnTo>
                  <a:lnTo>
                    <a:pt x="1208884" y="6858000"/>
                  </a:lnTo>
                  <a:lnTo>
                    <a:pt x="2589120" y="6858000"/>
                  </a:lnTo>
                  <a:lnTo>
                    <a:pt x="2589120" y="0"/>
                  </a:lnTo>
                  <a:close/>
                </a:path>
              </a:pathLst>
            </a:custGeom>
            <a:solidFill>
              <a:srgbClr val="5FCAEE">
                <a:alpha val="19999"/>
              </a:srgbClr>
            </a:solidFill>
          </p:spPr>
          <p:txBody>
            <a:bodyPr wrap="square" lIns="0" tIns="0" rIns="0" bIns="0" rtlCol="0"/>
            <a:lstStyle/>
            <a:p>
              <a:endParaRPr/>
            </a:p>
          </p:txBody>
        </p:sp>
        <p:sp>
          <p:nvSpPr>
            <p:cNvPr id="7" name="object 7"/>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8" name="object 8"/>
            <p:cNvSpPr/>
            <p:nvPr/>
          </p:nvSpPr>
          <p:spPr>
            <a:xfrm>
              <a:off x="9337930" y="0"/>
              <a:ext cx="2854325" cy="6858000"/>
            </a:xfrm>
            <a:custGeom>
              <a:avLst/>
              <a:gdLst/>
              <a:ahLst/>
              <a:cxnLst/>
              <a:rect l="l" t="t" r="r" b="b"/>
              <a:pathLst>
                <a:path w="2854325" h="6858000">
                  <a:moveTo>
                    <a:pt x="2854069" y="0"/>
                  </a:moveTo>
                  <a:lnTo>
                    <a:pt x="0" y="0"/>
                  </a:lnTo>
                  <a:lnTo>
                    <a:pt x="2470021" y="6858000"/>
                  </a:lnTo>
                  <a:lnTo>
                    <a:pt x="2854069" y="6858000"/>
                  </a:lnTo>
                  <a:lnTo>
                    <a:pt x="2854069" y="0"/>
                  </a:lnTo>
                  <a:close/>
                </a:path>
              </a:pathLst>
            </a:custGeom>
            <a:solidFill>
              <a:srgbClr val="17AFE3">
                <a:alpha val="50195"/>
              </a:srgbClr>
            </a:solidFill>
          </p:spPr>
          <p:txBody>
            <a:bodyPr wrap="square" lIns="0" tIns="0" rIns="0" bIns="0" rtlCol="0"/>
            <a:lstStyle/>
            <a:p>
              <a:endParaRPr/>
            </a:p>
          </p:txBody>
        </p:sp>
        <p:sp>
          <p:nvSpPr>
            <p:cNvPr id="9" name="object 9"/>
            <p:cNvSpPr/>
            <p:nvPr/>
          </p:nvSpPr>
          <p:spPr>
            <a:xfrm>
              <a:off x="10896600" y="0"/>
              <a:ext cx="1295400" cy="6858000"/>
            </a:xfrm>
            <a:custGeom>
              <a:avLst/>
              <a:gdLst/>
              <a:ahLst/>
              <a:cxnLst/>
              <a:rect l="l" t="t" r="r" b="b"/>
              <a:pathLst>
                <a:path w="1295400" h="6858000">
                  <a:moveTo>
                    <a:pt x="1295400" y="0"/>
                  </a:moveTo>
                  <a:lnTo>
                    <a:pt x="1022453" y="0"/>
                  </a:lnTo>
                  <a:lnTo>
                    <a:pt x="0" y="6858000"/>
                  </a:lnTo>
                  <a:lnTo>
                    <a:pt x="1295400" y="6858000"/>
                  </a:lnTo>
                  <a:lnTo>
                    <a:pt x="1295400" y="0"/>
                  </a:lnTo>
                  <a:close/>
                </a:path>
              </a:pathLst>
            </a:custGeom>
            <a:solidFill>
              <a:srgbClr val="2D83C3">
                <a:alpha val="70195"/>
              </a:srgbClr>
            </a:solidFill>
          </p:spPr>
          <p:txBody>
            <a:bodyPr wrap="square" lIns="0" tIns="0" rIns="0" bIns="0" rtlCol="0"/>
            <a:lstStyle/>
            <a:p>
              <a:endParaRPr/>
            </a:p>
          </p:txBody>
        </p:sp>
        <p:sp>
          <p:nvSpPr>
            <p:cNvPr id="10" name="object 10"/>
            <p:cNvSpPr/>
            <p:nvPr/>
          </p:nvSpPr>
          <p:spPr>
            <a:xfrm>
              <a:off x="10936247" y="0"/>
              <a:ext cx="1256030" cy="6858000"/>
            </a:xfrm>
            <a:custGeom>
              <a:avLst/>
              <a:gdLst/>
              <a:ahLst/>
              <a:cxnLst/>
              <a:rect l="l" t="t" r="r" b="b"/>
              <a:pathLst>
                <a:path w="1256029" h="6858000">
                  <a:moveTo>
                    <a:pt x="1255752" y="0"/>
                  </a:moveTo>
                  <a:lnTo>
                    <a:pt x="0" y="0"/>
                  </a:lnTo>
                  <a:lnTo>
                    <a:pt x="1114528" y="6858000"/>
                  </a:lnTo>
                  <a:lnTo>
                    <a:pt x="1255752" y="6857999"/>
                  </a:lnTo>
                  <a:lnTo>
                    <a:pt x="1255752" y="0"/>
                  </a:lnTo>
                  <a:close/>
                </a:path>
              </a:pathLst>
            </a:custGeom>
            <a:solidFill>
              <a:srgbClr val="226192">
                <a:alpha val="79998"/>
              </a:srgbClr>
            </a:solidFill>
          </p:spPr>
          <p:txBody>
            <a:bodyPr wrap="square" lIns="0" tIns="0" rIns="0" bIns="0" rtlCol="0"/>
            <a:lstStyle/>
            <a:p>
              <a:endParaRPr/>
            </a:p>
          </p:txBody>
        </p:sp>
        <p:sp>
          <p:nvSpPr>
            <p:cNvPr id="11" name="object 11"/>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2" name="object 12"/>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3" name="object 13"/>
          <p:cNvSpPr txBox="1"/>
          <p:nvPr/>
        </p:nvSpPr>
        <p:spPr>
          <a:xfrm>
            <a:off x="752475" y="6486037"/>
            <a:ext cx="1754505" cy="166370"/>
          </a:xfrm>
          <a:prstGeom prst="rect">
            <a:avLst/>
          </a:prstGeom>
        </p:spPr>
        <p:txBody>
          <a:bodyPr vert="horz" wrap="square" lIns="0" tIns="0" rIns="0" bIns="0" rtlCol="0">
            <a:spAutoFit/>
          </a:bodyPr>
          <a:lstStyle/>
          <a:p>
            <a:pPr>
              <a:lnSpc>
                <a:spcPts val="1275"/>
              </a:lnSpc>
              <a:tabLst>
                <a:tab pos="785495" algn="l"/>
              </a:tabLst>
            </a:pPr>
            <a:r>
              <a:rPr sz="1100" spc="-10" dirty="0">
                <a:solidFill>
                  <a:srgbClr val="2D83C3"/>
                </a:solidFill>
                <a:latin typeface="Trebuchet MS"/>
                <a:cs typeface="Trebuchet MS"/>
              </a:rPr>
              <a:t>9/14/2026</a:t>
            </a:r>
            <a:r>
              <a:rPr sz="1100" dirty="0">
                <a:solidFill>
                  <a:srgbClr val="2D83C3"/>
                </a:solidFill>
                <a:latin typeface="Trebuchet MS"/>
                <a:cs typeface="Trebuchet MS"/>
              </a:rPr>
              <a:t>	</a:t>
            </a:r>
            <a:r>
              <a:rPr sz="1100" b="1" dirty="0">
                <a:solidFill>
                  <a:srgbClr val="2D83C3"/>
                </a:solidFill>
                <a:latin typeface="Trebuchet MS"/>
                <a:cs typeface="Trebuchet MS"/>
              </a:rPr>
              <a:t>Annual</a:t>
            </a:r>
            <a:r>
              <a:rPr sz="1100" b="1" spc="-25" dirty="0">
                <a:solidFill>
                  <a:srgbClr val="2D83C3"/>
                </a:solidFill>
                <a:latin typeface="Trebuchet MS"/>
                <a:cs typeface="Trebuchet MS"/>
              </a:rPr>
              <a:t> </a:t>
            </a:r>
            <a:r>
              <a:rPr sz="1100" b="1" spc="-10" dirty="0">
                <a:solidFill>
                  <a:srgbClr val="2D83C3"/>
                </a:solidFill>
                <a:latin typeface="Trebuchet MS"/>
                <a:cs typeface="Trebuchet MS"/>
              </a:rPr>
              <a:t>Review</a:t>
            </a:r>
            <a:endParaRPr sz="1100">
              <a:latin typeface="Trebuchet MS"/>
              <a:cs typeface="Trebuchet MS"/>
            </a:endParaRPr>
          </a:p>
        </p:txBody>
      </p:sp>
      <p:sp>
        <p:nvSpPr>
          <p:cNvPr id="14" name="object 14"/>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5" name="object 15"/>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6" name="object 16"/>
          <p:cNvPicPr/>
          <p:nvPr/>
        </p:nvPicPr>
        <p:blipFill>
          <a:blip r:embed="rId2" cstate="print"/>
          <a:stretch>
            <a:fillRect/>
          </a:stretch>
        </p:blipFill>
        <p:spPr>
          <a:xfrm>
            <a:off x="10687050" y="6134100"/>
            <a:ext cx="247650" cy="247650"/>
          </a:xfrm>
          <a:prstGeom prst="rect">
            <a:avLst/>
          </a:prstGeom>
        </p:spPr>
      </p:pic>
      <p:grpSp>
        <p:nvGrpSpPr>
          <p:cNvPr id="17" name="object 17"/>
          <p:cNvGrpSpPr/>
          <p:nvPr/>
        </p:nvGrpSpPr>
        <p:grpSpPr>
          <a:xfrm>
            <a:off x="47625" y="3819523"/>
            <a:ext cx="4124325" cy="3009900"/>
            <a:chOff x="47625" y="3819523"/>
            <a:chExt cx="4124325" cy="3009900"/>
          </a:xfrm>
        </p:grpSpPr>
        <p:pic>
          <p:nvPicPr>
            <p:cNvPr id="18" name="object 18"/>
            <p:cNvPicPr/>
            <p:nvPr/>
          </p:nvPicPr>
          <p:blipFill>
            <a:blip r:embed="rId3" cstate="print"/>
            <a:stretch>
              <a:fillRect/>
            </a:stretch>
          </p:blipFill>
          <p:spPr>
            <a:xfrm>
              <a:off x="466725" y="6410325"/>
              <a:ext cx="3705225" cy="295275"/>
            </a:xfrm>
            <a:prstGeom prst="rect">
              <a:avLst/>
            </a:prstGeom>
          </p:spPr>
        </p:pic>
        <p:pic>
          <p:nvPicPr>
            <p:cNvPr id="19" name="object 19"/>
            <p:cNvPicPr/>
            <p:nvPr/>
          </p:nvPicPr>
          <p:blipFill>
            <a:blip r:embed="rId4" cstate="print"/>
            <a:stretch>
              <a:fillRect/>
            </a:stretch>
          </p:blipFill>
          <p:spPr>
            <a:xfrm>
              <a:off x="47625" y="3819523"/>
              <a:ext cx="1733550" cy="3009898"/>
            </a:xfrm>
            <a:prstGeom prst="rect">
              <a:avLst/>
            </a:prstGeom>
          </p:spPr>
        </p:pic>
      </p:grpSp>
      <p:sp>
        <p:nvSpPr>
          <p:cNvPr id="20" name="object 20" descr="$PPTXTitle"/>
          <p:cNvSpPr txBox="1">
            <a:spLocks noGrp="1"/>
          </p:cNvSpPr>
          <p:nvPr>
            <p:ph type="title"/>
          </p:nvPr>
        </p:nvSpPr>
        <p:spPr>
          <a:xfrm>
            <a:off x="755332" y="394906"/>
            <a:ext cx="6297930" cy="3234539"/>
          </a:xfrm>
          <a:prstGeom prst="rect">
            <a:avLst/>
          </a:prstGeom>
        </p:spPr>
        <p:txBody>
          <a:bodyPr vert="horz" wrap="square" lIns="0" tIns="63817" rIns="0" bIns="0" rtlCol="0">
            <a:spAutoFit/>
          </a:bodyPr>
          <a:lstStyle/>
          <a:p>
            <a:pPr>
              <a:lnSpc>
                <a:spcPct val="100000"/>
              </a:lnSpc>
              <a:spcBef>
                <a:spcPts val="105"/>
              </a:spcBef>
            </a:pPr>
            <a:r>
              <a:rPr sz="4400" spc="-525" dirty="0"/>
              <a:t>T</a:t>
            </a:r>
            <a:r>
              <a:rPr sz="4400" spc="25" dirty="0"/>
              <a:t>e</a:t>
            </a:r>
            <a:r>
              <a:rPr sz="4400" spc="30" dirty="0"/>
              <a:t>c</a:t>
            </a:r>
            <a:r>
              <a:rPr sz="4400" spc="5" dirty="0"/>
              <a:t>h</a:t>
            </a:r>
            <a:r>
              <a:rPr sz="4400" spc="25" dirty="0"/>
              <a:t>n</a:t>
            </a:r>
            <a:r>
              <a:rPr sz="4400" spc="-5" dirty="0"/>
              <a:t>o</a:t>
            </a:r>
            <a:r>
              <a:rPr sz="4400" spc="15" dirty="0"/>
              <a:t>lo</a:t>
            </a:r>
            <a:r>
              <a:rPr sz="4400" spc="-5" dirty="0"/>
              <a:t>g</a:t>
            </a:r>
            <a:r>
              <a:rPr sz="4400" spc="15" dirty="0"/>
              <a:t>y</a:t>
            </a:r>
            <a:r>
              <a:rPr sz="4400" spc="-295" dirty="0"/>
              <a:t> </a:t>
            </a:r>
            <a:r>
              <a:rPr sz="4400" spc="-20" dirty="0"/>
              <a:t>Used</a:t>
            </a:r>
            <a:br>
              <a:rPr lang="en-IN" sz="1800" spc="-20" dirty="0"/>
            </a:br>
            <a:br>
              <a:rPr lang="en-IN" sz="1800" spc="-20" dirty="0"/>
            </a:br>
            <a:r>
              <a:rPr lang="en-IN" sz="2400" b="0" spc="-20" dirty="0"/>
              <a:t>Python</a:t>
            </a:r>
            <a:br>
              <a:rPr lang="en-IN" sz="2400" b="0" spc="-20" dirty="0"/>
            </a:br>
            <a:r>
              <a:rPr lang="en-IN" sz="2400" b="0" spc="-20" dirty="0"/>
              <a:t>NumPy</a:t>
            </a:r>
            <a:br>
              <a:rPr lang="en-IN" sz="2400" b="0" spc="-20" dirty="0"/>
            </a:br>
            <a:r>
              <a:rPr lang="en-IN" sz="2400" b="0" spc="-20" dirty="0"/>
              <a:t>Jupyter Notebook</a:t>
            </a:r>
            <a:br>
              <a:rPr lang="en-IN" sz="2400" b="0" spc="-20" dirty="0"/>
            </a:br>
            <a:r>
              <a:rPr lang="en-IN" sz="2400" b="0" spc="-20" dirty="0"/>
              <a:t>Matplotlib</a:t>
            </a:r>
            <a:br>
              <a:rPr lang="en-IN" sz="2400" b="0" spc="-20" dirty="0"/>
            </a:br>
            <a:r>
              <a:rPr lang="en-IN" sz="2400" b="0" spc="-20" dirty="0"/>
              <a:t>Seaborn</a:t>
            </a:r>
            <a:br>
              <a:rPr lang="en-IN" sz="2400" b="0" spc="-20" dirty="0"/>
            </a:br>
            <a:endParaRPr sz="2400" b="0" dirty="0"/>
          </a:p>
        </p:txBody>
      </p:sp>
      <p:sp>
        <p:nvSpPr>
          <p:cNvPr id="21" name="object 2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5</a:t>
            </a:fld>
            <a:endParaRPr spc="-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6</a:t>
            </a:fld>
            <a:endParaRPr spc="-25" dirty="0"/>
          </a:p>
        </p:txBody>
      </p:sp>
      <p:pic>
        <p:nvPicPr>
          <p:cNvPr id="9" name="Picture 8">
            <a:extLst>
              <a:ext uri="{FF2B5EF4-FFF2-40B4-BE49-F238E27FC236}">
                <a16:creationId xmlns:a16="http://schemas.microsoft.com/office/drawing/2014/main" id="{6F756775-A1BB-226E-CAA6-791057A70580}"/>
              </a:ext>
            </a:extLst>
          </p:cNvPr>
          <p:cNvPicPr>
            <a:picLocks noChangeAspect="1"/>
          </p:cNvPicPr>
          <p:nvPr/>
        </p:nvPicPr>
        <p:blipFill>
          <a:blip r:embed="rId3"/>
          <a:stretch>
            <a:fillRect/>
          </a:stretch>
        </p:blipFill>
        <p:spPr>
          <a:xfrm>
            <a:off x="752475" y="1523999"/>
            <a:ext cx="8467725" cy="4464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7</a:t>
            </a:fld>
            <a:endParaRPr spc="-25" dirty="0"/>
          </a:p>
        </p:txBody>
      </p:sp>
      <p:pic>
        <p:nvPicPr>
          <p:cNvPr id="10" name="Picture 9">
            <a:extLst>
              <a:ext uri="{FF2B5EF4-FFF2-40B4-BE49-F238E27FC236}">
                <a16:creationId xmlns:a16="http://schemas.microsoft.com/office/drawing/2014/main" id="{88995F36-A7E3-AE89-768F-00F772F725CD}"/>
              </a:ext>
            </a:extLst>
          </p:cNvPr>
          <p:cNvPicPr>
            <a:picLocks noChangeAspect="1"/>
          </p:cNvPicPr>
          <p:nvPr/>
        </p:nvPicPr>
        <p:blipFill>
          <a:blip r:embed="rId3"/>
          <a:stretch>
            <a:fillRect/>
          </a:stretch>
        </p:blipFill>
        <p:spPr>
          <a:xfrm>
            <a:off x="533400" y="1295400"/>
            <a:ext cx="8610600" cy="4419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8</a:t>
            </a:fld>
            <a:endParaRPr spc="-25" dirty="0"/>
          </a:p>
        </p:txBody>
      </p:sp>
      <p:pic>
        <p:nvPicPr>
          <p:cNvPr id="10" name="Picture 9">
            <a:extLst>
              <a:ext uri="{FF2B5EF4-FFF2-40B4-BE49-F238E27FC236}">
                <a16:creationId xmlns:a16="http://schemas.microsoft.com/office/drawing/2014/main" id="{9B70543C-9FD6-23D3-3CD8-16D3EDC0A2E9}"/>
              </a:ext>
            </a:extLst>
          </p:cNvPr>
          <p:cNvPicPr>
            <a:picLocks noChangeAspect="1"/>
          </p:cNvPicPr>
          <p:nvPr/>
        </p:nvPicPr>
        <p:blipFill>
          <a:blip r:embed="rId3"/>
          <a:stretch>
            <a:fillRect/>
          </a:stretch>
        </p:blipFill>
        <p:spPr>
          <a:xfrm>
            <a:off x="685800" y="1295400"/>
            <a:ext cx="8382000" cy="4781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9</a:t>
            </a:fld>
            <a:endParaRPr spc="-25" dirty="0"/>
          </a:p>
        </p:txBody>
      </p:sp>
      <p:pic>
        <p:nvPicPr>
          <p:cNvPr id="10" name="Picture 9">
            <a:extLst>
              <a:ext uri="{FF2B5EF4-FFF2-40B4-BE49-F238E27FC236}">
                <a16:creationId xmlns:a16="http://schemas.microsoft.com/office/drawing/2014/main" id="{7F188F05-7672-6172-5EBA-02460138FDF3}"/>
              </a:ext>
            </a:extLst>
          </p:cNvPr>
          <p:cNvPicPr>
            <a:picLocks noChangeAspect="1"/>
          </p:cNvPicPr>
          <p:nvPr/>
        </p:nvPicPr>
        <p:blipFill>
          <a:blip r:embed="rId3"/>
          <a:stretch>
            <a:fillRect/>
          </a:stretch>
        </p:blipFill>
        <p:spPr>
          <a:xfrm>
            <a:off x="533400" y="1295400"/>
            <a:ext cx="8534400" cy="485508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10</a:t>
            </a:fld>
            <a:endParaRPr spc="-25" dirty="0"/>
          </a:p>
        </p:txBody>
      </p:sp>
      <p:sp>
        <p:nvSpPr>
          <p:cNvPr id="8" name="object 8"/>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r>
              <a:rPr sz="2000" spc="-75" dirty="0">
                <a:solidFill>
                  <a:srgbClr val="404040"/>
                </a:solidFill>
                <a:latin typeface="Trebuchet MS"/>
                <a:cs typeface="Trebuchet MS"/>
              </a:rPr>
              <a:t> </a:t>
            </a:r>
            <a:endParaRPr sz="2000" dirty="0">
              <a:latin typeface="Trebuchet MS"/>
              <a:cs typeface="Trebuchet MS"/>
            </a:endParaRPr>
          </a:p>
        </p:txBody>
      </p:sp>
      <p:pic>
        <p:nvPicPr>
          <p:cNvPr id="10" name="Picture 9">
            <a:extLst>
              <a:ext uri="{FF2B5EF4-FFF2-40B4-BE49-F238E27FC236}">
                <a16:creationId xmlns:a16="http://schemas.microsoft.com/office/drawing/2014/main" id="{FD5D6306-AF04-232C-F2E9-170D28212F93}"/>
              </a:ext>
            </a:extLst>
          </p:cNvPr>
          <p:cNvPicPr>
            <a:picLocks noChangeAspect="1"/>
          </p:cNvPicPr>
          <p:nvPr/>
        </p:nvPicPr>
        <p:blipFill>
          <a:blip r:embed="rId3"/>
          <a:stretch>
            <a:fillRect/>
          </a:stretch>
        </p:blipFill>
        <p:spPr>
          <a:xfrm>
            <a:off x="457200" y="1328566"/>
            <a:ext cx="8686800" cy="485769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E428B-22C8-7415-82D5-675E561D18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9E05D79F-1E0F-3AD2-9B40-9A505E997511}"/>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8B565EDE-1EF7-AD3B-2881-EC7DB1AECDB1}"/>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F6D01242-DDF8-BB56-8633-31114DA63616}"/>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49760FD8-B8AC-1BCD-B322-4802615F20A7}"/>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88E75DB7-78E2-E2D4-1998-274DB9F9D3E9}"/>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F43B6083-948D-8242-E059-58897E38206E}"/>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11</a:t>
            </a:fld>
            <a:endParaRPr spc="-25" dirty="0"/>
          </a:p>
        </p:txBody>
      </p:sp>
      <p:sp>
        <p:nvSpPr>
          <p:cNvPr id="8" name="object 8">
            <a:extLst>
              <a:ext uri="{FF2B5EF4-FFF2-40B4-BE49-F238E27FC236}">
                <a16:creationId xmlns:a16="http://schemas.microsoft.com/office/drawing/2014/main" id="{BDF1DAD0-D374-BD05-ECAA-7D60C90DED9D}"/>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75"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41C5280E-4B61-82DD-6EA2-ECFBDEA07117}"/>
              </a:ext>
            </a:extLst>
          </p:cNvPr>
          <p:cNvPicPr>
            <a:picLocks noChangeAspect="1"/>
          </p:cNvPicPr>
          <p:nvPr/>
        </p:nvPicPr>
        <p:blipFill>
          <a:blip r:embed="rId3"/>
          <a:stretch>
            <a:fillRect/>
          </a:stretch>
        </p:blipFill>
        <p:spPr>
          <a:xfrm>
            <a:off x="752475" y="1339996"/>
            <a:ext cx="8391526" cy="4835729"/>
          </a:xfrm>
          <a:prstGeom prst="rect">
            <a:avLst/>
          </a:prstGeom>
        </p:spPr>
      </p:pic>
    </p:spTree>
    <p:extLst>
      <p:ext uri="{BB962C8B-B14F-4D97-AF65-F5344CB8AC3E}">
        <p14:creationId xmlns:p14="http://schemas.microsoft.com/office/powerpoint/2010/main" val="4015889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5D60F-B02F-70E3-B013-3E0849FEA02C}"/>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5520CFAC-08A5-6C40-42F8-9AA046F3169D}"/>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A53F2C64-AB08-CB67-7249-C57020A8E97F}"/>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7853802C-E0F8-511A-7DB5-59F492C3F035}"/>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EEB5E02B-AD66-6E72-38FC-C0AE08285BED}"/>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B6B5B821-E7BF-7E44-7BA5-9C25C27715FA}"/>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0F5E6C6B-DDED-ACF0-0379-29BC63A35985}"/>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12</a:t>
            </a:fld>
            <a:endParaRPr spc="-25" dirty="0"/>
          </a:p>
        </p:txBody>
      </p:sp>
      <p:pic>
        <p:nvPicPr>
          <p:cNvPr id="10" name="Picture 9">
            <a:extLst>
              <a:ext uri="{FF2B5EF4-FFF2-40B4-BE49-F238E27FC236}">
                <a16:creationId xmlns:a16="http://schemas.microsoft.com/office/drawing/2014/main" id="{FD33C95A-DA1F-40DE-8AF3-A9A01E63421A}"/>
              </a:ext>
            </a:extLst>
          </p:cNvPr>
          <p:cNvPicPr>
            <a:picLocks noChangeAspect="1"/>
          </p:cNvPicPr>
          <p:nvPr/>
        </p:nvPicPr>
        <p:blipFill>
          <a:blip r:embed="rId3"/>
          <a:stretch>
            <a:fillRect/>
          </a:stretch>
        </p:blipFill>
        <p:spPr>
          <a:xfrm>
            <a:off x="609600" y="1219200"/>
            <a:ext cx="8534400" cy="4857750"/>
          </a:xfrm>
          <a:prstGeom prst="rect">
            <a:avLst/>
          </a:prstGeom>
        </p:spPr>
      </p:pic>
    </p:spTree>
    <p:extLst>
      <p:ext uri="{BB962C8B-B14F-4D97-AF65-F5344CB8AC3E}">
        <p14:creationId xmlns:p14="http://schemas.microsoft.com/office/powerpoint/2010/main" val="1586096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EEB45-9E39-2F92-22E7-EDBEA1777524}"/>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3BDB5085-BAAE-AD8A-C33F-27BA499614BB}"/>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C0EB18C4-224D-A3DF-F2F8-FB3617822885}"/>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3729F1BB-A3A3-B2D5-760E-2D4ADF22650C}"/>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3C6EAB0-00F9-D9D3-D57F-B2D38C8AFA2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F3C11C64-AA27-CDCD-DB35-5179F8B62890}"/>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AD21BD81-5621-F17E-D5AA-B0F8CA43A5D5}"/>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13</a:t>
            </a:fld>
            <a:endParaRPr spc="-25" dirty="0"/>
          </a:p>
        </p:txBody>
      </p:sp>
      <p:sp>
        <p:nvSpPr>
          <p:cNvPr id="8" name="object 8">
            <a:extLst>
              <a:ext uri="{FF2B5EF4-FFF2-40B4-BE49-F238E27FC236}">
                <a16:creationId xmlns:a16="http://schemas.microsoft.com/office/drawing/2014/main" id="{3A6564A4-562C-F357-9D21-EC873C0B6BC6}"/>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A7B2409F-7D81-29C1-C1CA-67B6DA5ED9FB}"/>
              </a:ext>
            </a:extLst>
          </p:cNvPr>
          <p:cNvPicPr>
            <a:picLocks noChangeAspect="1"/>
          </p:cNvPicPr>
          <p:nvPr/>
        </p:nvPicPr>
        <p:blipFill>
          <a:blip r:embed="rId3"/>
          <a:stretch>
            <a:fillRect/>
          </a:stretch>
        </p:blipFill>
        <p:spPr>
          <a:xfrm>
            <a:off x="533400" y="1371600"/>
            <a:ext cx="8534400" cy="4267200"/>
          </a:xfrm>
          <a:prstGeom prst="rect">
            <a:avLst/>
          </a:prstGeom>
        </p:spPr>
      </p:pic>
    </p:spTree>
    <p:extLst>
      <p:ext uri="{BB962C8B-B14F-4D97-AF65-F5344CB8AC3E}">
        <p14:creationId xmlns:p14="http://schemas.microsoft.com/office/powerpoint/2010/main" val="31112583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33132-E595-2415-B170-97B5ABF5FDF9}"/>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20F7094-6578-E11C-A76B-64F0F223E777}"/>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B418613B-5D08-9C52-4703-EEBEB8D15662}"/>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1AC02AE2-D23D-483D-E9EF-25FE850D6A95}"/>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BAD5399-2CC1-8979-CA21-D4FF7A8CE231}"/>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AC317D73-9E61-BDA4-4BE2-2E0C3E7679D1}"/>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FA31857A-DE75-4AFF-2868-29C083FD47D8}"/>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14</a:t>
            </a:fld>
            <a:endParaRPr spc="-25" dirty="0"/>
          </a:p>
        </p:txBody>
      </p:sp>
      <p:sp>
        <p:nvSpPr>
          <p:cNvPr id="8" name="object 8">
            <a:extLst>
              <a:ext uri="{FF2B5EF4-FFF2-40B4-BE49-F238E27FC236}">
                <a16:creationId xmlns:a16="http://schemas.microsoft.com/office/drawing/2014/main" id="{40DDAA19-DC08-E4CA-FDC4-09E3CC4D1DE5}"/>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404040"/>
                </a:solidFill>
                <a:latin typeface="Trebuchet MS"/>
                <a:cs typeface="Trebuchet MS"/>
              </a:rPr>
              <a:t>[Add</a:t>
            </a:r>
            <a:r>
              <a:rPr sz="2000" spc="-25" dirty="0">
                <a:solidFill>
                  <a:srgbClr val="404040"/>
                </a:solidFill>
                <a:latin typeface="Trebuchet MS"/>
                <a:cs typeface="Trebuchet MS"/>
              </a:rPr>
              <a:t> </a:t>
            </a:r>
            <a:r>
              <a:rPr sz="2000" dirty="0">
                <a:solidFill>
                  <a:srgbClr val="404040"/>
                </a:solidFill>
                <a:latin typeface="Trebuchet MS"/>
                <a:cs typeface="Trebuchet MS"/>
              </a:rPr>
              <a:t>screen</a:t>
            </a:r>
            <a:r>
              <a:rPr sz="2000" spc="-80" dirty="0">
                <a:solidFill>
                  <a:srgbClr val="404040"/>
                </a:solidFill>
                <a:latin typeface="Trebuchet MS"/>
                <a:cs typeface="Trebuchet MS"/>
              </a:rPr>
              <a:t> </a:t>
            </a:r>
            <a:r>
              <a:rPr sz="2000" dirty="0">
                <a:solidFill>
                  <a:srgbClr val="404040"/>
                </a:solidFill>
                <a:latin typeface="Trebuchet MS"/>
                <a:cs typeface="Trebuchet MS"/>
              </a:rPr>
              <a:t>shots</a:t>
            </a:r>
            <a:r>
              <a:rPr sz="2000" spc="-20" dirty="0">
                <a:solidFill>
                  <a:srgbClr val="404040"/>
                </a:solidFill>
                <a:latin typeface="Trebuchet MS"/>
                <a:cs typeface="Trebuchet MS"/>
              </a:rPr>
              <a:t> </a:t>
            </a:r>
            <a:r>
              <a:rPr sz="2000" dirty="0">
                <a:solidFill>
                  <a:srgbClr val="404040"/>
                </a:solidFill>
                <a:latin typeface="Trebuchet MS"/>
                <a:cs typeface="Trebuchet MS"/>
              </a:rPr>
              <a:t>of</a:t>
            </a:r>
            <a:r>
              <a:rPr sz="2000" spc="-15" dirty="0">
                <a:solidFill>
                  <a:srgbClr val="404040"/>
                </a:solidFill>
                <a:latin typeface="Trebuchet MS"/>
                <a:cs typeface="Trebuchet MS"/>
              </a:rPr>
              <a:t> </a:t>
            </a:r>
            <a:r>
              <a:rPr sz="2000" dirty="0">
                <a:solidFill>
                  <a:srgbClr val="404040"/>
                </a:solidFill>
                <a:latin typeface="Trebuchet MS"/>
                <a:cs typeface="Trebuchet MS"/>
              </a:rPr>
              <a:t>your</a:t>
            </a:r>
            <a:r>
              <a:rPr sz="2000" spc="15" dirty="0">
                <a:solidFill>
                  <a:srgbClr val="404040"/>
                </a:solidFill>
                <a:latin typeface="Trebuchet MS"/>
                <a:cs typeface="Trebuchet MS"/>
              </a:rPr>
              <a:t> </a:t>
            </a:r>
            <a:r>
              <a:rPr sz="2000" dirty="0">
                <a:solidFill>
                  <a:srgbClr val="404040"/>
                </a:solidFill>
                <a:latin typeface="Trebuchet MS"/>
                <a:cs typeface="Trebuchet MS"/>
              </a:rPr>
              <a:t>code</a:t>
            </a:r>
            <a:r>
              <a:rPr sz="2000" spc="-75" dirty="0">
                <a:solidFill>
                  <a:srgbClr val="404040"/>
                </a:solidFill>
                <a:latin typeface="Trebuchet MS"/>
                <a:cs typeface="Trebuchet MS"/>
              </a:rPr>
              <a:t> </a:t>
            </a:r>
            <a:r>
              <a:rPr sz="2000" spc="-50" dirty="0">
                <a:solidFill>
                  <a:srgbClr val="404040"/>
                </a:solidFill>
                <a:latin typeface="Trebuchet MS"/>
                <a:cs typeface="Trebuchet MS"/>
              </a:rPr>
              <a:t>]</a:t>
            </a: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B1080DA3-357D-311E-AFCE-19AB7A5BD49C}"/>
              </a:ext>
            </a:extLst>
          </p:cNvPr>
          <p:cNvPicPr>
            <a:picLocks noChangeAspect="1"/>
          </p:cNvPicPr>
          <p:nvPr/>
        </p:nvPicPr>
        <p:blipFill>
          <a:blip r:embed="rId3"/>
          <a:stretch>
            <a:fillRect/>
          </a:stretch>
        </p:blipFill>
        <p:spPr>
          <a:xfrm>
            <a:off x="533400" y="1371600"/>
            <a:ext cx="8610600" cy="4705350"/>
          </a:xfrm>
          <a:prstGeom prst="rect">
            <a:avLst/>
          </a:prstGeom>
        </p:spPr>
      </p:pic>
    </p:spTree>
    <p:extLst>
      <p:ext uri="{BB962C8B-B14F-4D97-AF65-F5344CB8AC3E}">
        <p14:creationId xmlns:p14="http://schemas.microsoft.com/office/powerpoint/2010/main" val="3768244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77380-5446-0BAF-B96F-0066C2E2F331}"/>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B2773A-F1C2-9684-8F87-F82F16470349}"/>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133C3C2A-8D74-2AB0-851F-90FA0842544E}"/>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9A18844-1049-CAC7-BCA5-2BAFC103BBBD}"/>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7FBA852-BF34-A0D3-09EA-D40A3F144816}"/>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9EADF3C7-FCD2-5F48-1FE5-F1DCEB0890F8}"/>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DC450224-FE04-46EC-7C6D-22DC389DDC9A}"/>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15</a:t>
            </a:fld>
            <a:endParaRPr spc="-25" dirty="0"/>
          </a:p>
        </p:txBody>
      </p:sp>
      <p:sp>
        <p:nvSpPr>
          <p:cNvPr id="8" name="object 8">
            <a:extLst>
              <a:ext uri="{FF2B5EF4-FFF2-40B4-BE49-F238E27FC236}">
                <a16:creationId xmlns:a16="http://schemas.microsoft.com/office/drawing/2014/main" id="{B44EFF02-7051-1141-FFA1-BD22066DCE18}"/>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90A9E3F7-7DCC-8A31-52D6-3D2B488A103E}"/>
              </a:ext>
            </a:extLst>
          </p:cNvPr>
          <p:cNvPicPr>
            <a:picLocks noChangeAspect="1"/>
          </p:cNvPicPr>
          <p:nvPr/>
        </p:nvPicPr>
        <p:blipFill>
          <a:blip r:embed="rId3"/>
          <a:stretch>
            <a:fillRect/>
          </a:stretch>
        </p:blipFill>
        <p:spPr>
          <a:xfrm>
            <a:off x="609600" y="1295400"/>
            <a:ext cx="8534400" cy="4724401"/>
          </a:xfrm>
          <a:prstGeom prst="rect">
            <a:avLst/>
          </a:prstGeom>
        </p:spPr>
      </p:pic>
    </p:spTree>
    <p:extLst>
      <p:ext uri="{BB962C8B-B14F-4D97-AF65-F5344CB8AC3E}">
        <p14:creationId xmlns:p14="http://schemas.microsoft.com/office/powerpoint/2010/main" val="1389926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39CE2-833D-393A-88B9-EFC7496158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C805F72-9F92-8CA4-B8DD-20B715C76154}"/>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53178EED-BA68-1BB4-2CB4-2F4BB00CCCA6}"/>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A07925C-0AFA-C656-89EA-D92D20B33F2A}"/>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2A1CA83-46D4-F2CA-3048-79C57D62993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EFC3E42-DF29-49E9-3FC4-A007F834E371}"/>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9AEA2F7D-96B5-F203-D52D-240F4D57A0E1}"/>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16</a:t>
            </a:fld>
            <a:endParaRPr spc="-25" dirty="0"/>
          </a:p>
        </p:txBody>
      </p:sp>
      <p:pic>
        <p:nvPicPr>
          <p:cNvPr id="10" name="Picture 9">
            <a:extLst>
              <a:ext uri="{FF2B5EF4-FFF2-40B4-BE49-F238E27FC236}">
                <a16:creationId xmlns:a16="http://schemas.microsoft.com/office/drawing/2014/main" id="{8BF571B8-21D4-F213-C96F-B1451929C13D}"/>
              </a:ext>
            </a:extLst>
          </p:cNvPr>
          <p:cNvPicPr>
            <a:picLocks noChangeAspect="1"/>
          </p:cNvPicPr>
          <p:nvPr/>
        </p:nvPicPr>
        <p:blipFill>
          <a:blip r:embed="rId3"/>
          <a:stretch>
            <a:fillRect/>
          </a:stretch>
        </p:blipFill>
        <p:spPr>
          <a:xfrm>
            <a:off x="752474" y="1328567"/>
            <a:ext cx="8240081" cy="4691234"/>
          </a:xfrm>
          <a:prstGeom prst="rect">
            <a:avLst/>
          </a:prstGeom>
        </p:spPr>
      </p:pic>
    </p:spTree>
    <p:extLst>
      <p:ext uri="{BB962C8B-B14F-4D97-AF65-F5344CB8AC3E}">
        <p14:creationId xmlns:p14="http://schemas.microsoft.com/office/powerpoint/2010/main" val="1744086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1F4AC-24E9-D92F-6FFE-9F59700FDCF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AAF1A40-DA44-2DF2-3E15-CBC2D9CA8132}"/>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2990EBFD-B1ED-9056-80F6-CAAAB6CCBDC6}"/>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78F1904A-A1E5-D2A5-926B-DF263E371E62}"/>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AC76E968-647D-D284-E76D-61758CB4EB29}"/>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4F28B9BD-A77F-D6A1-621E-C39DE6C49109}"/>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3F9D0F17-E573-E7EA-1BB1-BD711D89039B}"/>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17</a:t>
            </a:fld>
            <a:endParaRPr spc="-25" dirty="0"/>
          </a:p>
        </p:txBody>
      </p:sp>
      <p:sp>
        <p:nvSpPr>
          <p:cNvPr id="8" name="object 8">
            <a:extLst>
              <a:ext uri="{FF2B5EF4-FFF2-40B4-BE49-F238E27FC236}">
                <a16:creationId xmlns:a16="http://schemas.microsoft.com/office/drawing/2014/main" id="{BA016CC1-DBE7-27E6-8D63-2812DC1A69AC}"/>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5BA2012F-C497-0DE4-749A-93026EB897B6}"/>
              </a:ext>
            </a:extLst>
          </p:cNvPr>
          <p:cNvPicPr>
            <a:picLocks noChangeAspect="1"/>
          </p:cNvPicPr>
          <p:nvPr/>
        </p:nvPicPr>
        <p:blipFill>
          <a:blip r:embed="rId3"/>
          <a:stretch>
            <a:fillRect/>
          </a:stretch>
        </p:blipFill>
        <p:spPr>
          <a:xfrm>
            <a:off x="752475" y="1295400"/>
            <a:ext cx="8382000" cy="4724400"/>
          </a:xfrm>
          <a:prstGeom prst="rect">
            <a:avLst/>
          </a:prstGeom>
        </p:spPr>
      </p:pic>
    </p:spTree>
    <p:extLst>
      <p:ext uri="{BB962C8B-B14F-4D97-AF65-F5344CB8AC3E}">
        <p14:creationId xmlns:p14="http://schemas.microsoft.com/office/powerpoint/2010/main" val="28047641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87FE4-ED80-7405-C2EA-BA119155FA06}"/>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2202415C-9866-D713-46B1-8448A39CBDD5}"/>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11A6B123-049B-A5E0-4D92-75841A1BC992}"/>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0960E8B1-F5D5-ACBE-0081-38AB3F9BE49E}"/>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C577FE32-1556-2310-AD4F-1AAB8D7833C4}"/>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43BC97E2-DE5C-812E-9A56-2E79EF7289A6}"/>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B98517F3-D35C-8EEF-5BC8-B4F65EDEDE76}"/>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18</a:t>
            </a:fld>
            <a:endParaRPr spc="-25" dirty="0"/>
          </a:p>
        </p:txBody>
      </p:sp>
      <p:sp>
        <p:nvSpPr>
          <p:cNvPr id="8" name="object 8">
            <a:extLst>
              <a:ext uri="{FF2B5EF4-FFF2-40B4-BE49-F238E27FC236}">
                <a16:creationId xmlns:a16="http://schemas.microsoft.com/office/drawing/2014/main" id="{B3568B8B-6D41-0E8D-8D3E-B7DD839C8BCE}"/>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EC3AF0F5-AAD9-EC90-41EC-2507582B383B}"/>
              </a:ext>
            </a:extLst>
          </p:cNvPr>
          <p:cNvPicPr>
            <a:picLocks noChangeAspect="1"/>
          </p:cNvPicPr>
          <p:nvPr/>
        </p:nvPicPr>
        <p:blipFill>
          <a:blip r:embed="rId3"/>
          <a:stretch>
            <a:fillRect/>
          </a:stretch>
        </p:blipFill>
        <p:spPr>
          <a:xfrm>
            <a:off x="757391" y="1330800"/>
            <a:ext cx="8382955" cy="4746149"/>
          </a:xfrm>
          <a:prstGeom prst="rect">
            <a:avLst/>
          </a:prstGeom>
        </p:spPr>
      </p:pic>
    </p:spTree>
    <p:extLst>
      <p:ext uri="{BB962C8B-B14F-4D97-AF65-F5344CB8AC3E}">
        <p14:creationId xmlns:p14="http://schemas.microsoft.com/office/powerpoint/2010/main" val="2075050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CB363-5F66-5CEB-EE2F-766611E03D03}"/>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E9BA7335-CEFC-070B-EA06-F57517876CA7}"/>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AF0290E3-C65E-E40A-2B01-F4EB41A954F5}"/>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B3A78ED7-AEAE-4674-2D5B-7C8CD45ED6DD}"/>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0F819527-6F9F-8483-AAB8-A8ACBCB048C3}"/>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A4AA1D4-BD50-DA54-53CF-D4DDB92B838F}"/>
              </a:ext>
            </a:extLst>
          </p:cNvPr>
          <p:cNvSpPr txBox="1">
            <a:spLocks noGrp="1"/>
          </p:cNvSpPr>
          <p:nvPr>
            <p:ph type="ctrTitle"/>
          </p:nvPr>
        </p:nvSpPr>
        <p:spPr>
          <a:prstGeom prst="rect">
            <a:avLst/>
          </a:prstGeom>
        </p:spPr>
        <p:txBody>
          <a:bodyPr vert="horz" wrap="square" lIns="0" tIns="13335" rIns="0" bIns="0" rtlCol="0">
            <a:spAutoFit/>
          </a:bodyPr>
          <a:lstStyle/>
          <a:p>
            <a:pPr marL="12700">
              <a:lnSpc>
                <a:spcPct val="100000"/>
              </a:lnSpc>
              <a:spcBef>
                <a:spcPts val="105"/>
              </a:spcBef>
            </a:pPr>
            <a:r>
              <a:rPr sz="4800" spc="-50" dirty="0"/>
              <a:t>RESULTS</a:t>
            </a:r>
            <a:endParaRPr sz="4800"/>
          </a:p>
        </p:txBody>
      </p:sp>
      <p:sp>
        <p:nvSpPr>
          <p:cNvPr id="9" name="object 9">
            <a:extLst>
              <a:ext uri="{FF2B5EF4-FFF2-40B4-BE49-F238E27FC236}">
                <a16:creationId xmlns:a16="http://schemas.microsoft.com/office/drawing/2014/main" id="{10105E7D-6A07-F103-CEF1-5A0599067B6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19</a:t>
            </a:fld>
            <a:endParaRPr spc="-25" dirty="0"/>
          </a:p>
        </p:txBody>
      </p:sp>
      <p:sp>
        <p:nvSpPr>
          <p:cNvPr id="8" name="object 8">
            <a:extLst>
              <a:ext uri="{FF2B5EF4-FFF2-40B4-BE49-F238E27FC236}">
                <a16:creationId xmlns:a16="http://schemas.microsoft.com/office/drawing/2014/main" id="{81509C93-DA99-F54F-C836-042F9E7D6386}"/>
              </a:ext>
            </a:extLst>
          </p:cNvPr>
          <p:cNvSpPr txBox="1"/>
          <p:nvPr/>
        </p:nvSpPr>
        <p:spPr>
          <a:xfrm>
            <a:off x="886460" y="1457261"/>
            <a:ext cx="3698240" cy="644407"/>
          </a:xfrm>
          <a:prstGeom prst="rect">
            <a:avLst/>
          </a:prstGeom>
        </p:spPr>
        <p:txBody>
          <a:bodyPr vert="horz" wrap="square" lIns="0" tIns="15875" rIns="0" bIns="0" rtlCol="0">
            <a:spAutoFit/>
          </a:bodyPr>
          <a:lstStyle/>
          <a:p>
            <a:pPr marL="12700">
              <a:lnSpc>
                <a:spcPct val="100000"/>
              </a:lnSpc>
              <a:spcBef>
                <a:spcPts val="125"/>
              </a:spcBef>
            </a:pPr>
            <a:r>
              <a:rPr sz="2000" dirty="0">
                <a:solidFill>
                  <a:srgbClr val="404040"/>
                </a:solidFill>
                <a:latin typeface="Trebuchet MS"/>
                <a:cs typeface="Trebuchet MS"/>
              </a:rPr>
              <a:t>[Add</a:t>
            </a:r>
            <a:r>
              <a:rPr sz="2000" spc="-25" dirty="0">
                <a:solidFill>
                  <a:srgbClr val="404040"/>
                </a:solidFill>
                <a:latin typeface="Trebuchet MS"/>
                <a:cs typeface="Trebuchet MS"/>
              </a:rPr>
              <a:t> </a:t>
            </a:r>
            <a:r>
              <a:rPr sz="2000" dirty="0">
                <a:solidFill>
                  <a:srgbClr val="404040"/>
                </a:solidFill>
                <a:latin typeface="Trebuchet MS"/>
                <a:cs typeface="Trebuchet MS"/>
              </a:rPr>
              <a:t>screen</a:t>
            </a:r>
            <a:r>
              <a:rPr sz="2000" spc="-80" dirty="0">
                <a:solidFill>
                  <a:srgbClr val="404040"/>
                </a:solidFill>
                <a:latin typeface="Trebuchet MS"/>
                <a:cs typeface="Trebuchet MS"/>
              </a:rPr>
              <a:t> </a:t>
            </a:r>
            <a:r>
              <a:rPr sz="2000" dirty="0">
                <a:solidFill>
                  <a:srgbClr val="404040"/>
                </a:solidFill>
                <a:latin typeface="Trebuchet MS"/>
                <a:cs typeface="Trebuchet MS"/>
              </a:rPr>
              <a:t>shots</a:t>
            </a:r>
            <a:r>
              <a:rPr sz="2000" spc="-20" dirty="0">
                <a:solidFill>
                  <a:srgbClr val="404040"/>
                </a:solidFill>
                <a:latin typeface="Trebuchet MS"/>
                <a:cs typeface="Trebuchet MS"/>
              </a:rPr>
              <a:t> </a:t>
            </a:r>
            <a:r>
              <a:rPr sz="2000" dirty="0">
                <a:solidFill>
                  <a:srgbClr val="404040"/>
                </a:solidFill>
                <a:latin typeface="Trebuchet MS"/>
                <a:cs typeface="Trebuchet MS"/>
              </a:rPr>
              <a:t>of</a:t>
            </a:r>
            <a:r>
              <a:rPr sz="2000" spc="-15" dirty="0">
                <a:solidFill>
                  <a:srgbClr val="404040"/>
                </a:solidFill>
                <a:latin typeface="Trebuchet MS"/>
                <a:cs typeface="Trebuchet MS"/>
              </a:rPr>
              <a:t> </a:t>
            </a:r>
            <a:r>
              <a:rPr sz="2000" dirty="0">
                <a:solidFill>
                  <a:srgbClr val="404040"/>
                </a:solidFill>
                <a:latin typeface="Trebuchet MS"/>
                <a:cs typeface="Trebuchet MS"/>
              </a:rPr>
              <a:t>your</a:t>
            </a:r>
            <a:r>
              <a:rPr sz="2000" spc="15" dirty="0">
                <a:solidFill>
                  <a:srgbClr val="404040"/>
                </a:solidFill>
                <a:latin typeface="Trebuchet MS"/>
                <a:cs typeface="Trebuchet MS"/>
              </a:rPr>
              <a:t> </a:t>
            </a:r>
            <a:r>
              <a:rPr sz="2000" dirty="0">
                <a:solidFill>
                  <a:srgbClr val="404040"/>
                </a:solidFill>
                <a:latin typeface="Trebuchet MS"/>
                <a:cs typeface="Trebuchet MS"/>
              </a:rPr>
              <a:t>code</a:t>
            </a:r>
            <a:r>
              <a:rPr sz="2000" spc="-75" dirty="0">
                <a:solidFill>
                  <a:srgbClr val="404040"/>
                </a:solidFill>
                <a:latin typeface="Trebuchet MS"/>
                <a:cs typeface="Trebuchet MS"/>
              </a:rPr>
              <a:t> </a:t>
            </a:r>
            <a:r>
              <a:rPr sz="2000" spc="-50" dirty="0">
                <a:solidFill>
                  <a:srgbClr val="404040"/>
                </a:solidFill>
                <a:latin typeface="Trebuchet MS"/>
                <a:cs typeface="Trebuchet MS"/>
              </a:rPr>
              <a:t>]</a:t>
            </a:r>
            <a:endParaRPr lang="en-IN" sz="2000" spc="-50" dirty="0">
              <a:solidFill>
                <a:srgbClr val="404040"/>
              </a:solidFill>
              <a:latin typeface="Trebuchet MS"/>
              <a:cs typeface="Trebuchet MS"/>
            </a:endParaRPr>
          </a:p>
          <a:p>
            <a:pPr marL="12700">
              <a:lnSpc>
                <a:spcPct val="100000"/>
              </a:lnSpc>
              <a:spcBef>
                <a:spcPts val="125"/>
              </a:spcBef>
            </a:pPr>
            <a:endParaRPr sz="2000" dirty="0">
              <a:latin typeface="Trebuchet MS"/>
              <a:cs typeface="Trebuchet MS"/>
            </a:endParaRPr>
          </a:p>
        </p:txBody>
      </p:sp>
      <p:pic>
        <p:nvPicPr>
          <p:cNvPr id="10" name="Picture 9">
            <a:extLst>
              <a:ext uri="{FF2B5EF4-FFF2-40B4-BE49-F238E27FC236}">
                <a16:creationId xmlns:a16="http://schemas.microsoft.com/office/drawing/2014/main" id="{72C03CF6-E798-9661-C533-970451B0B1DF}"/>
              </a:ext>
            </a:extLst>
          </p:cNvPr>
          <p:cNvPicPr>
            <a:picLocks noChangeAspect="1"/>
          </p:cNvPicPr>
          <p:nvPr/>
        </p:nvPicPr>
        <p:blipFill>
          <a:blip r:embed="rId3"/>
          <a:stretch>
            <a:fillRect/>
          </a:stretch>
        </p:blipFill>
        <p:spPr>
          <a:xfrm>
            <a:off x="533400" y="1166500"/>
            <a:ext cx="8534400" cy="4910449"/>
          </a:xfrm>
          <a:prstGeom prst="rect">
            <a:avLst/>
          </a:prstGeom>
        </p:spPr>
      </p:pic>
    </p:spTree>
    <p:extLst>
      <p:ext uri="{BB962C8B-B14F-4D97-AF65-F5344CB8AC3E}">
        <p14:creationId xmlns:p14="http://schemas.microsoft.com/office/powerpoint/2010/main" val="1520646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B1B3C-9672-CC2A-2E33-0A8939A410DE}"/>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2C9C851-E81F-353A-784A-69118A1CC903}"/>
              </a:ext>
            </a:extLst>
          </p:cNvPr>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a:extLst>
              <a:ext uri="{FF2B5EF4-FFF2-40B4-BE49-F238E27FC236}">
                <a16:creationId xmlns:a16="http://schemas.microsoft.com/office/drawing/2014/main" id="{2F1F2E45-C3BF-F9B1-A732-6AAD9D6A72B3}"/>
              </a:ext>
            </a:extLst>
          </p:cNvPr>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a:extLst>
              <a:ext uri="{FF2B5EF4-FFF2-40B4-BE49-F238E27FC236}">
                <a16:creationId xmlns:a16="http://schemas.microsoft.com/office/drawing/2014/main" id="{8027557A-7F77-3E92-49C3-C0C82BA276D7}"/>
              </a:ext>
            </a:extLst>
          </p:cNvPr>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a:extLst>
              <a:ext uri="{FF2B5EF4-FFF2-40B4-BE49-F238E27FC236}">
                <a16:creationId xmlns:a16="http://schemas.microsoft.com/office/drawing/2014/main" id="{9AD9CD75-8246-6B4E-A307-0DB1376442E4}"/>
              </a:ext>
            </a:extLst>
          </p:cNvPr>
          <p:cNvPicPr/>
          <p:nvPr/>
        </p:nvPicPr>
        <p:blipFill>
          <a:blip r:embed="rId2" cstate="print"/>
          <a:stretch>
            <a:fillRect/>
          </a:stretch>
        </p:blipFill>
        <p:spPr>
          <a:xfrm>
            <a:off x="1666875" y="6467475"/>
            <a:ext cx="76200" cy="177800"/>
          </a:xfrm>
          <a:prstGeom prst="rect">
            <a:avLst/>
          </a:prstGeom>
        </p:spPr>
      </p:pic>
      <p:sp>
        <p:nvSpPr>
          <p:cNvPr id="7" name="object 7" descr="$PPTXTitle">
            <a:extLst>
              <a:ext uri="{FF2B5EF4-FFF2-40B4-BE49-F238E27FC236}">
                <a16:creationId xmlns:a16="http://schemas.microsoft.com/office/drawing/2014/main" id="{1A616EE4-1FFA-0EA6-24E2-0663B1A93F30}"/>
              </a:ext>
            </a:extLst>
          </p:cNvPr>
          <p:cNvSpPr txBox="1">
            <a:spLocks noGrp="1"/>
          </p:cNvSpPr>
          <p:nvPr>
            <p:ph type="ctrTitle"/>
          </p:nvPr>
        </p:nvSpPr>
        <p:spPr>
          <a:xfrm>
            <a:off x="755332" y="385444"/>
            <a:ext cx="2444115" cy="1490793"/>
          </a:xfrm>
          <a:prstGeom prst="rect">
            <a:avLst/>
          </a:prstGeom>
        </p:spPr>
        <p:txBody>
          <a:bodyPr vert="horz" wrap="square" lIns="0" tIns="13335" rIns="0" bIns="0" rtlCol="0">
            <a:spAutoFit/>
          </a:bodyPr>
          <a:lstStyle/>
          <a:p>
            <a:pPr marL="12700">
              <a:lnSpc>
                <a:spcPct val="100000"/>
              </a:lnSpc>
              <a:spcBef>
                <a:spcPts val="105"/>
              </a:spcBef>
            </a:pPr>
            <a:r>
              <a:rPr sz="4800" spc="-50" dirty="0"/>
              <a:t>RESULTS</a:t>
            </a:r>
            <a:br>
              <a:rPr lang="en-IN" sz="4800" spc="-50" dirty="0"/>
            </a:br>
            <a:endParaRPr sz="4800" dirty="0"/>
          </a:p>
        </p:txBody>
      </p:sp>
      <p:sp>
        <p:nvSpPr>
          <p:cNvPr id="9" name="object 9">
            <a:extLst>
              <a:ext uri="{FF2B5EF4-FFF2-40B4-BE49-F238E27FC236}">
                <a16:creationId xmlns:a16="http://schemas.microsoft.com/office/drawing/2014/main" id="{F6F3A17C-331B-84B3-D8E1-5A48C5834F30}"/>
              </a:ext>
            </a:extLst>
          </p:cNvPr>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20</a:t>
            </a:fld>
            <a:endParaRPr spc="-25" dirty="0"/>
          </a:p>
        </p:txBody>
      </p:sp>
      <p:pic>
        <p:nvPicPr>
          <p:cNvPr id="10" name="Picture 9">
            <a:extLst>
              <a:ext uri="{FF2B5EF4-FFF2-40B4-BE49-F238E27FC236}">
                <a16:creationId xmlns:a16="http://schemas.microsoft.com/office/drawing/2014/main" id="{DEBEF1FF-7F0F-9314-0CA5-45415B203829}"/>
              </a:ext>
            </a:extLst>
          </p:cNvPr>
          <p:cNvPicPr>
            <a:picLocks noChangeAspect="1"/>
          </p:cNvPicPr>
          <p:nvPr/>
        </p:nvPicPr>
        <p:blipFill>
          <a:blip r:embed="rId3"/>
          <a:stretch>
            <a:fillRect/>
          </a:stretch>
        </p:blipFill>
        <p:spPr>
          <a:xfrm>
            <a:off x="609600" y="1295400"/>
            <a:ext cx="8458200" cy="4890858"/>
          </a:xfrm>
          <a:prstGeom prst="rect">
            <a:avLst/>
          </a:prstGeom>
        </p:spPr>
      </p:pic>
    </p:spTree>
    <p:extLst>
      <p:ext uri="{BB962C8B-B14F-4D97-AF65-F5344CB8AC3E}">
        <p14:creationId xmlns:p14="http://schemas.microsoft.com/office/powerpoint/2010/main" val="3971960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609600" y="394906"/>
            <a:ext cx="6443662" cy="2348079"/>
          </a:xfrm>
          <a:prstGeom prst="rect">
            <a:avLst/>
          </a:prstGeom>
        </p:spPr>
        <p:txBody>
          <a:bodyPr vert="horz" wrap="square" lIns="0" tIns="16510" rIns="0" bIns="0" rtlCol="0">
            <a:spAutoFit/>
          </a:bodyPr>
          <a:lstStyle/>
          <a:p>
            <a:r>
              <a:rPr sz="3950" dirty="0"/>
              <a:t>Future</a:t>
            </a:r>
            <a:r>
              <a:rPr sz="3950" spc="-150" dirty="0"/>
              <a:t> </a:t>
            </a:r>
            <a:r>
              <a:rPr sz="3950" spc="-10" dirty="0"/>
              <a:t>scope</a:t>
            </a:r>
            <a:br>
              <a:rPr lang="en-IN" sz="3950" spc="-10" dirty="0"/>
            </a:br>
            <a:br>
              <a:rPr lang="en-IN" sz="1600" spc="-10" dirty="0"/>
            </a:br>
            <a:r>
              <a:rPr lang="en-IN" sz="1600" b="0" dirty="0"/>
              <a:t>Connect localized soil moisture probes and automated weather stations to stream micro-climate telemetry directly.</a:t>
            </a:r>
            <a:br>
              <a:rPr lang="en-IN" sz="1600" b="0" dirty="0"/>
            </a:br>
            <a:br>
              <a:rPr lang="en-IN" sz="1600" b="0" dirty="0"/>
            </a:br>
            <a:r>
              <a:rPr lang="en-IN" sz="1600" b="0" dirty="0"/>
              <a:t>Deploy a localized voice-assisted mobile application enabling multilingual alerts directly to smallholder farmers.</a:t>
            </a:r>
            <a:br>
              <a:rPr lang="en-IN" sz="1600" b="0" dirty="0"/>
            </a:br>
            <a:endParaRPr sz="160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21</a:t>
            </a:fld>
            <a:endParaRPr spc="-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sz="3950" dirty="0"/>
              <a:t>GitHub</a:t>
            </a:r>
            <a:r>
              <a:rPr sz="3950" spc="85" dirty="0"/>
              <a:t> </a:t>
            </a:r>
            <a:r>
              <a:rPr sz="3950" spc="-20" dirty="0"/>
              <a:t>Link</a:t>
            </a:r>
            <a:endParaRPr sz="3950"/>
          </a:p>
        </p:txBody>
      </p:sp>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22</a:t>
            </a:fld>
            <a:endParaRPr spc="-25" dirty="0"/>
          </a:p>
        </p:txBody>
      </p:sp>
      <p:sp>
        <p:nvSpPr>
          <p:cNvPr id="8" name="object 8"/>
          <p:cNvSpPr txBox="1"/>
          <p:nvPr/>
        </p:nvSpPr>
        <p:spPr>
          <a:xfrm>
            <a:off x="808672" y="1465897"/>
            <a:ext cx="5592129" cy="553549"/>
          </a:xfrm>
          <a:prstGeom prst="rect">
            <a:avLst/>
          </a:prstGeom>
        </p:spPr>
        <p:txBody>
          <a:bodyPr vert="horz" wrap="square" lIns="0" tIns="10795" rIns="0" bIns="0" rtlCol="0">
            <a:spAutoFit/>
          </a:bodyPr>
          <a:lstStyle/>
          <a:p>
            <a:pPr marL="12700" marR="5080">
              <a:lnSpc>
                <a:spcPct val="100800"/>
              </a:lnSpc>
              <a:spcBef>
                <a:spcPts val="85"/>
              </a:spcBef>
            </a:pPr>
            <a:r>
              <a:rPr lang="en-IN" sz="1800" dirty="0">
                <a:latin typeface="Trebuchet MS"/>
                <a:cs typeface="Trebuchet MS"/>
              </a:rPr>
              <a:t>https://github.com/abhinavpd099/Seasonal-Agriculture-Performance-Analysis</a:t>
            </a:r>
            <a:endParaRPr sz="1800" dirty="0">
              <a:latin typeface="Trebuchet MS"/>
              <a:cs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descr="$PPTXTitle"/>
          <p:cNvSpPr txBox="1">
            <a:spLocks noGrp="1"/>
          </p:cNvSpPr>
          <p:nvPr>
            <p:ph type="title"/>
          </p:nvPr>
        </p:nvSpPr>
        <p:spPr>
          <a:xfrm>
            <a:off x="755332" y="394906"/>
            <a:ext cx="6297930" cy="1351139"/>
          </a:xfrm>
          <a:prstGeom prst="rect">
            <a:avLst/>
          </a:prstGeom>
        </p:spPr>
        <p:txBody>
          <a:bodyPr vert="horz" wrap="square" lIns="0" tIns="31115" rIns="0" bIns="0" rtlCol="0">
            <a:spAutoFit/>
          </a:bodyPr>
          <a:lstStyle/>
          <a:p>
            <a:pPr marL="12700" marR="5080">
              <a:lnSpc>
                <a:spcPts val="3460"/>
              </a:lnSpc>
              <a:spcBef>
                <a:spcPts val="245"/>
              </a:spcBef>
            </a:pPr>
            <a:r>
              <a:rPr dirty="0"/>
              <a:t>VOIS</a:t>
            </a:r>
            <a:r>
              <a:rPr spc="-45" dirty="0"/>
              <a:t> </a:t>
            </a:r>
            <a:r>
              <a:rPr dirty="0"/>
              <a:t>Course</a:t>
            </a:r>
            <a:r>
              <a:rPr spc="-80" dirty="0"/>
              <a:t> </a:t>
            </a:r>
            <a:r>
              <a:rPr dirty="0"/>
              <a:t>completion</a:t>
            </a:r>
            <a:r>
              <a:rPr spc="-45" dirty="0"/>
              <a:t> </a:t>
            </a:r>
            <a:r>
              <a:rPr dirty="0"/>
              <a:t>certificate</a:t>
            </a:r>
            <a:r>
              <a:rPr spc="-40" dirty="0"/>
              <a:t> </a:t>
            </a:r>
            <a:r>
              <a:rPr spc="-50" dirty="0"/>
              <a:t>- </a:t>
            </a:r>
            <a:r>
              <a:rPr dirty="0"/>
              <a:t>Course</a:t>
            </a:r>
            <a:r>
              <a:rPr spc="-85" dirty="0"/>
              <a:t> </a:t>
            </a:r>
            <a:r>
              <a:rPr dirty="0"/>
              <a:t>name-</a:t>
            </a:r>
            <a:r>
              <a:rPr spc="-10" dirty="0"/>
              <a:t> </a:t>
            </a:r>
            <a:r>
              <a:rPr dirty="0"/>
              <a:t>Data</a:t>
            </a:r>
            <a:r>
              <a:rPr spc="-40" dirty="0"/>
              <a:t> </a:t>
            </a:r>
            <a:r>
              <a:rPr spc="-10" dirty="0"/>
              <a:t>Visualization</a:t>
            </a:r>
            <a:br>
              <a:rPr lang="en-IN" spc="-10" dirty="0"/>
            </a:br>
            <a:endParaRPr spc="-10" dirty="0"/>
          </a:p>
        </p:txBody>
      </p:sp>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23</a:t>
            </a:fld>
            <a:endParaRPr spc="-25" dirty="0"/>
          </a:p>
        </p:txBody>
      </p:sp>
      <p:pic>
        <p:nvPicPr>
          <p:cNvPr id="9" name="Picture 8">
            <a:extLst>
              <a:ext uri="{FF2B5EF4-FFF2-40B4-BE49-F238E27FC236}">
                <a16:creationId xmlns:a16="http://schemas.microsoft.com/office/drawing/2014/main" id="{83BAFC61-E746-7C1B-25E3-E428C2942FBD}"/>
              </a:ext>
            </a:extLst>
          </p:cNvPr>
          <p:cNvPicPr>
            <a:picLocks noChangeAspect="1"/>
          </p:cNvPicPr>
          <p:nvPr/>
        </p:nvPicPr>
        <p:blipFill>
          <a:blip r:embed="rId3"/>
          <a:stretch>
            <a:fillRect/>
          </a:stretch>
        </p:blipFill>
        <p:spPr>
          <a:xfrm>
            <a:off x="609600" y="1295400"/>
            <a:ext cx="8467726" cy="5037078"/>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2925" y="3467100"/>
            <a:ext cx="466725" cy="400050"/>
          </a:xfrm>
          <a:custGeom>
            <a:avLst/>
            <a:gdLst/>
            <a:ahLst/>
            <a:cxnLst/>
            <a:rect l="l" t="t" r="r" b="b"/>
            <a:pathLst>
              <a:path w="466725" h="400050">
                <a:moveTo>
                  <a:pt x="366712" y="0"/>
                </a:moveTo>
                <a:lnTo>
                  <a:pt x="100012" y="0"/>
                </a:lnTo>
                <a:lnTo>
                  <a:pt x="0" y="200025"/>
                </a:lnTo>
                <a:lnTo>
                  <a:pt x="100012" y="400050"/>
                </a:lnTo>
                <a:lnTo>
                  <a:pt x="366712" y="400050"/>
                </a:lnTo>
                <a:lnTo>
                  <a:pt x="466725" y="200025"/>
                </a:lnTo>
                <a:lnTo>
                  <a:pt x="366712" y="0"/>
                </a:lnTo>
                <a:close/>
              </a:path>
            </a:pathLst>
          </a:custGeom>
          <a:solidFill>
            <a:srgbClr val="5FCAEE"/>
          </a:solidFill>
        </p:spPr>
        <p:txBody>
          <a:bodyPr wrap="square" lIns="0" tIns="0" rIns="0" bIns="0" rtlCol="0"/>
          <a:lstStyle/>
          <a:p>
            <a:endParaRPr/>
          </a:p>
        </p:txBody>
      </p:sp>
      <p:grpSp>
        <p:nvGrpSpPr>
          <p:cNvPr id="3" name="object 3"/>
          <p:cNvGrpSpPr/>
          <p:nvPr/>
        </p:nvGrpSpPr>
        <p:grpSpPr>
          <a:xfrm>
            <a:off x="10887075" y="2200275"/>
            <a:ext cx="581025" cy="504825"/>
            <a:chOff x="10887075" y="2200275"/>
            <a:chExt cx="581025" cy="504825"/>
          </a:xfrm>
        </p:grpSpPr>
        <p:sp>
          <p:nvSpPr>
            <p:cNvPr id="4" name="object 4"/>
            <p:cNvSpPr/>
            <p:nvPr/>
          </p:nvSpPr>
          <p:spPr>
            <a:xfrm>
              <a:off x="11115675" y="2390775"/>
              <a:ext cx="352425" cy="314325"/>
            </a:xfrm>
            <a:custGeom>
              <a:avLst/>
              <a:gdLst/>
              <a:ahLst/>
              <a:cxnLst/>
              <a:rect l="l" t="t" r="r" b="b"/>
              <a:pathLst>
                <a:path w="352425" h="314325">
                  <a:moveTo>
                    <a:pt x="273811" y="0"/>
                  </a:moveTo>
                  <a:lnTo>
                    <a:pt x="78613" y="0"/>
                  </a:lnTo>
                  <a:lnTo>
                    <a:pt x="0" y="157099"/>
                  </a:lnTo>
                  <a:lnTo>
                    <a:pt x="78613" y="314325"/>
                  </a:lnTo>
                  <a:lnTo>
                    <a:pt x="273811" y="314325"/>
                  </a:lnTo>
                  <a:lnTo>
                    <a:pt x="352425" y="157099"/>
                  </a:lnTo>
                  <a:lnTo>
                    <a:pt x="273811" y="0"/>
                  </a:lnTo>
                  <a:close/>
                </a:path>
              </a:pathLst>
            </a:custGeom>
            <a:solidFill>
              <a:srgbClr val="2D83C3"/>
            </a:solidFill>
          </p:spPr>
          <p:txBody>
            <a:bodyPr wrap="square" lIns="0" tIns="0" rIns="0" bIns="0" rtlCol="0"/>
            <a:lstStyle/>
            <a:p>
              <a:endParaRPr/>
            </a:p>
          </p:txBody>
        </p:sp>
        <p:pic>
          <p:nvPicPr>
            <p:cNvPr id="5" name="object 5"/>
            <p:cNvPicPr/>
            <p:nvPr/>
          </p:nvPicPr>
          <p:blipFill>
            <a:blip r:embed="rId2" cstate="print"/>
            <a:stretch>
              <a:fillRect/>
            </a:stretch>
          </p:blipFill>
          <p:spPr>
            <a:xfrm>
              <a:off x="10887075" y="2200275"/>
              <a:ext cx="228600" cy="200025"/>
            </a:xfrm>
            <a:prstGeom prst="rect">
              <a:avLst/>
            </a:prstGeom>
          </p:spPr>
        </p:pic>
      </p:grpSp>
      <p:sp>
        <p:nvSpPr>
          <p:cNvPr id="6" name="object 6" descr="$PPTXTitle"/>
          <p:cNvSpPr txBox="1">
            <a:spLocks noGrp="1"/>
          </p:cNvSpPr>
          <p:nvPr>
            <p:ph type="title"/>
          </p:nvPr>
        </p:nvSpPr>
        <p:spPr>
          <a:xfrm rot="10800000" flipV="1">
            <a:off x="3886200" y="2547937"/>
            <a:ext cx="2743200" cy="670696"/>
          </a:xfrm>
          <a:prstGeom prst="rect">
            <a:avLst/>
          </a:prstGeom>
        </p:spPr>
        <p:txBody>
          <a:bodyPr vert="horz" wrap="square" lIns="0" tIns="16510" rIns="0" bIns="0" rtlCol="0">
            <a:spAutoFit/>
          </a:bodyPr>
          <a:lstStyle/>
          <a:p>
            <a:pPr marL="12700">
              <a:lnSpc>
                <a:spcPct val="100000"/>
              </a:lnSpc>
              <a:spcBef>
                <a:spcPts val="130"/>
              </a:spcBef>
            </a:pPr>
            <a:r>
              <a:rPr sz="4250" dirty="0"/>
              <a:t>Thank</a:t>
            </a:r>
            <a:r>
              <a:rPr sz="4250" spc="60" dirty="0"/>
              <a:t> </a:t>
            </a:r>
            <a:r>
              <a:rPr sz="4250" spc="-25" dirty="0"/>
              <a:t>you</a:t>
            </a:r>
            <a:endParaRPr sz="4250" dirty="0"/>
          </a:p>
        </p:txBody>
      </p:sp>
      <p:sp>
        <p:nvSpPr>
          <p:cNvPr id="7" name="object 7"/>
          <p:cNvSpPr txBox="1"/>
          <p:nvPr/>
        </p:nvSpPr>
        <p:spPr>
          <a:xfrm>
            <a:off x="4751451" y="4681854"/>
            <a:ext cx="99060" cy="265430"/>
          </a:xfrm>
          <a:prstGeom prst="rect">
            <a:avLst/>
          </a:prstGeom>
        </p:spPr>
        <p:txBody>
          <a:bodyPr vert="horz" wrap="square" lIns="0" tIns="15875" rIns="0" bIns="0" rtlCol="0">
            <a:spAutoFit/>
          </a:bodyPr>
          <a:lstStyle/>
          <a:p>
            <a:pPr marL="12700">
              <a:lnSpc>
                <a:spcPct val="100000"/>
              </a:lnSpc>
              <a:spcBef>
                <a:spcPts val="125"/>
              </a:spcBef>
            </a:pPr>
            <a:r>
              <a:rPr sz="1550" spc="-50" dirty="0">
                <a:latin typeface="Trebuchet MS"/>
                <a:cs typeface="Trebuchet MS"/>
              </a:rPr>
              <a:t>.</a:t>
            </a:r>
            <a:endParaRPr sz="1550">
              <a:latin typeface="Trebuchet MS"/>
              <a:cs typeface="Trebuchet MS"/>
            </a:endParaRPr>
          </a:p>
        </p:txBody>
      </p:sp>
      <p:sp>
        <p:nvSpPr>
          <p:cNvPr id="8" name="object 8"/>
          <p:cNvSpPr txBox="1"/>
          <p:nvPr/>
        </p:nvSpPr>
        <p:spPr>
          <a:xfrm>
            <a:off x="9618726" y="4681854"/>
            <a:ext cx="99060" cy="265430"/>
          </a:xfrm>
          <a:prstGeom prst="rect">
            <a:avLst/>
          </a:prstGeom>
        </p:spPr>
        <p:txBody>
          <a:bodyPr vert="horz" wrap="square" lIns="0" tIns="15875" rIns="0" bIns="0" rtlCol="0">
            <a:spAutoFit/>
          </a:bodyPr>
          <a:lstStyle/>
          <a:p>
            <a:pPr marL="12700">
              <a:lnSpc>
                <a:spcPct val="100000"/>
              </a:lnSpc>
              <a:spcBef>
                <a:spcPts val="125"/>
              </a:spcBef>
            </a:pPr>
            <a:r>
              <a:rPr sz="1550" spc="-50" dirty="0">
                <a:latin typeface="Trebuchet MS"/>
                <a:cs typeface="Trebuchet MS"/>
              </a:rPr>
              <a:t>.</a:t>
            </a:r>
            <a:endParaRPr sz="1550">
              <a:latin typeface="Trebuchet MS"/>
              <a:cs typeface="Trebuchet MS"/>
            </a:endParaRPr>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25" dirty="0"/>
              <a:t>24</a:t>
            </a:fld>
            <a:endParaRPr spc="-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79</TotalTime>
  <Words>495</Words>
  <Application>Microsoft Office PowerPoint</Application>
  <PresentationFormat>Widescreen</PresentationFormat>
  <Paragraphs>60</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Trebuchet MS</vt:lpstr>
      <vt:lpstr>Wingdings</vt:lpstr>
      <vt:lpstr>Office Theme</vt:lpstr>
      <vt:lpstr>Project Title – Seasonal Agriculture Performance Analysis</vt:lpstr>
      <vt:lpstr>PROBLEM  STATEMENT</vt:lpstr>
      <vt:lpstr>Project Description  Research Objectives Quantify seasonal yield differentials across major crop cycles including Kharif, Rabi, and Summer (Zaid) to detect historical bottlenecks. Synthesize environmental indicators like seasonal rainfall anomalies, fertilizer intensity, and surface temperature against production metrics. Build automated data cleaning and statistical aggregation pipelines that transform unstructured historical records into actionable intelligence.  Methodological Scope Employs multivariate exploratory data analysis (EDA), anomaly detection, and regression algorithms to forecast seasonal performance. Generates interactive visualizations and heatmaps to aid stakeholders in pinpointing optimal planting schedules. Establishes an empirical baseline for data-backed crop selection, fertilizer allocation, and localized harvest planning.  </vt:lpstr>
      <vt:lpstr>WHO ARE THE END USERS?  Farmers &amp; FPOs Guides smallholder farmers and Producer Organizations on crop selection, sowing schedules, and seasonal resource budgeting to minimize yield losses.  Agritech Planners Enables government bodies and policy planners to prepare seasonal food security reserves, drought buffers, and minimum support prices.  Supply Chains Assists commodity buyers, cold storage facilities, and logistics firms in anticipating post-harvest volume spikes across seasonal corridors.  Agri-Researchers Supplies verified seasonal performance indices to agronomists studying crop resilience against erratic microclimate shifts. </vt:lpstr>
      <vt:lpstr>Technology Used  Python NumPy Jupyter Notebook Matplotlib Seaborn </vt:lpstr>
      <vt:lpstr>RESULTS </vt:lpstr>
      <vt:lpstr>RESULTS</vt:lpstr>
      <vt:lpstr>RESULTS </vt:lpstr>
      <vt:lpstr>RESULTS</vt:lpstr>
      <vt:lpstr>RESULTS</vt:lpstr>
      <vt:lpstr>RESULTS</vt:lpstr>
      <vt:lpstr>RESULTS </vt:lpstr>
      <vt:lpstr>RESULTS </vt:lpstr>
      <vt:lpstr>RESULTS</vt:lpstr>
      <vt:lpstr>RESULTS </vt:lpstr>
      <vt:lpstr>RESULTS</vt:lpstr>
      <vt:lpstr>RESULTS</vt:lpstr>
      <vt:lpstr>RESULTS</vt:lpstr>
      <vt:lpstr>RESULTS</vt:lpstr>
      <vt:lpstr>RESULTS </vt:lpstr>
      <vt:lpstr>Future scope  Connect localized soil moisture probes and automated weather stations to stream micro-climate telemetry directly.  Deploy a localized voice-assisted mobile application enabling multilingual alerts directly to smallholder farmers. </vt:lpstr>
      <vt:lpstr>GitHub Link</vt:lpstr>
      <vt:lpstr>VOIS Course completion certificate - Course name- Data Visualization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Abhinav Prasad</cp:lastModifiedBy>
  <cp:revision>4</cp:revision>
  <dcterms:created xsi:type="dcterms:W3CDTF">2026-09-14T15:08:49Z</dcterms:created>
  <dcterms:modified xsi:type="dcterms:W3CDTF">2026-09-14T16:52:43Z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2026-09-14T00:00:00Z</vt:filetime>
  </property>
  <property fmtid="{D5CDD505-2E9C-101B-9397-08002B2CF9AE}" pid="4" name="LastSaved">
    <vt:filetime>2026-09-14T00:00:00Z</vt:filetime>
  </property>
</Properties>
</file>